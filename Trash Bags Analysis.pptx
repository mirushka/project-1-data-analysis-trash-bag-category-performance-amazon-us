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59" r:id="rId4"/>
    <p:sldId id="284" r:id="rId5"/>
    <p:sldId id="2144446545" r:id="rId6"/>
    <p:sldId id="2144446500" r:id="rId7"/>
    <p:sldId id="2144446546" r:id="rId8"/>
    <p:sldId id="2144446543" r:id="rId9"/>
    <p:sldId id="2144446504" r:id="rId10"/>
    <p:sldId id="21444465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BCCC"/>
    <a:srgbClr val="FFB0AD"/>
    <a:srgbClr val="C2F1C8"/>
    <a:srgbClr val="071829"/>
    <a:srgbClr val="F6F7F8"/>
    <a:srgbClr val="A6A6A6"/>
    <a:srgbClr val="FF5951"/>
    <a:srgbClr val="FFECEC"/>
    <a:srgbClr val="77C489"/>
    <a:srgbClr val="F1F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chrienov\Downloads\SampleData-TrashBags-v02%20(version%202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%20(version%202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%20(version%202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%20(version%202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%20(version%202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71829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ADBCCC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'Top-Line Overview'!$AI$5</c:f>
              <c:strCache>
                <c:ptCount val="1"/>
                <c:pt idx="0">
                  <c:v>Retail Sales </c:v>
                </c:pt>
              </c:strCache>
            </c:strRef>
          </c:tx>
          <c:spPr>
            <a:ln w="28575" cap="rnd">
              <a:solidFill>
                <a:srgbClr val="ADBCCC"/>
              </a:solidFill>
              <a:round/>
            </a:ln>
            <a:effectLst/>
          </c:spPr>
          <c:marker>
            <c:symbol val="none"/>
          </c:marker>
          <c:cat>
            <c:strRef>
              <c:f>'Top-Line Overview'!$AH$6:$AH$57</c:f>
              <c:strCache>
                <c:ptCount val="50"/>
                <c:pt idx="0">
                  <c:v>W1</c:v>
                </c:pt>
                <c:pt idx="4">
                  <c:v>W5</c:v>
                </c:pt>
                <c:pt idx="9">
                  <c:v>W10</c:v>
                </c:pt>
                <c:pt idx="14">
                  <c:v>W15</c:v>
                </c:pt>
                <c:pt idx="19">
                  <c:v>W20</c:v>
                </c:pt>
                <c:pt idx="24">
                  <c:v>W25</c:v>
                </c:pt>
                <c:pt idx="29">
                  <c:v>W30</c:v>
                </c:pt>
                <c:pt idx="34">
                  <c:v>W35</c:v>
                </c:pt>
                <c:pt idx="39">
                  <c:v>W40</c:v>
                </c:pt>
                <c:pt idx="44">
                  <c:v>W45</c:v>
                </c:pt>
                <c:pt idx="49">
                  <c:v>W50</c:v>
                </c:pt>
              </c:strCache>
            </c:strRef>
          </c:cat>
          <c:val>
            <c:numRef>
              <c:f>'Top-Line Overview'!$AI$6:$AI$57</c:f>
              <c:numCache>
                <c:formatCode>_-[$$-409]* #,##0_ ;_-[$$-409]* \-#,##0\ ;_-[$$-409]* "-"_ ;_-@_ </c:formatCode>
                <c:ptCount val="52"/>
                <c:pt idx="0">
                  <c:v>1140014.2497</c:v>
                </c:pt>
                <c:pt idx="1">
                  <c:v>1005449.2198000008</c:v>
                </c:pt>
                <c:pt idx="2">
                  <c:v>926477.6594999996</c:v>
                </c:pt>
                <c:pt idx="3">
                  <c:v>1043936.2999999991</c:v>
                </c:pt>
                <c:pt idx="4">
                  <c:v>983988.11969999911</c:v>
                </c:pt>
                <c:pt idx="5">
                  <c:v>1001782.0193999987</c:v>
                </c:pt>
                <c:pt idx="6">
                  <c:v>1205590.9792000002</c:v>
                </c:pt>
                <c:pt idx="7">
                  <c:v>1214758.1792999995</c:v>
                </c:pt>
                <c:pt idx="8">
                  <c:v>1152898.1193999993</c:v>
                </c:pt>
                <c:pt idx="9">
                  <c:v>1117556.1393999984</c:v>
                </c:pt>
                <c:pt idx="10">
                  <c:v>1034373.6292999983</c:v>
                </c:pt>
                <c:pt idx="11">
                  <c:v>951088.55939999863</c:v>
                </c:pt>
                <c:pt idx="12">
                  <c:v>1127870.4994999981</c:v>
                </c:pt>
                <c:pt idx="13">
                  <c:v>1127128.829399999</c:v>
                </c:pt>
                <c:pt idx="14">
                  <c:v>1118977.4188999992</c:v>
                </c:pt>
                <c:pt idx="15">
                  <c:v>1158927.9795999965</c:v>
                </c:pt>
                <c:pt idx="16">
                  <c:v>1195395.189699997</c:v>
                </c:pt>
                <c:pt idx="17">
                  <c:v>1142627.8585999983</c:v>
                </c:pt>
                <c:pt idx="18">
                  <c:v>1154571.1689999986</c:v>
                </c:pt>
                <c:pt idx="19">
                  <c:v>1215120.4189999981</c:v>
                </c:pt>
                <c:pt idx="20">
                  <c:v>1134330.7690999997</c:v>
                </c:pt>
                <c:pt idx="21">
                  <c:v>1119655.0386999985</c:v>
                </c:pt>
                <c:pt idx="22">
                  <c:v>1177677.8389999967</c:v>
                </c:pt>
                <c:pt idx="23">
                  <c:v>1180861.4187999994</c:v>
                </c:pt>
                <c:pt idx="24">
                  <c:v>1115601.9384999971</c:v>
                </c:pt>
                <c:pt idx="25">
                  <c:v>1255719.7588999984</c:v>
                </c:pt>
                <c:pt idx="26">
                  <c:v>1225902.9384999997</c:v>
                </c:pt>
                <c:pt idx="27">
                  <c:v>1757276.4082999981</c:v>
                </c:pt>
                <c:pt idx="28">
                  <c:v>1379270.3184</c:v>
                </c:pt>
                <c:pt idx="29">
                  <c:v>1278912.6593999998</c:v>
                </c:pt>
                <c:pt idx="30">
                  <c:v>1261303.2387999995</c:v>
                </c:pt>
                <c:pt idx="31">
                  <c:v>1159890.7586999987</c:v>
                </c:pt>
                <c:pt idx="32">
                  <c:v>1208923.4882999985</c:v>
                </c:pt>
                <c:pt idx="33">
                  <c:v>1306686.4383999971</c:v>
                </c:pt>
                <c:pt idx="34">
                  <c:v>1290321.3684999973</c:v>
                </c:pt>
                <c:pt idx="35">
                  <c:v>1218404.3582999976</c:v>
                </c:pt>
                <c:pt idx="36">
                  <c:v>1291239.0184999995</c:v>
                </c:pt>
                <c:pt idx="37">
                  <c:v>1260864.6987000001</c:v>
                </c:pt>
                <c:pt idx="38">
                  <c:v>1299468.5089999991</c:v>
                </c:pt>
                <c:pt idx="39">
                  <c:v>1324906.8290999997</c:v>
                </c:pt>
                <c:pt idx="40">
                  <c:v>1291154.5977999989</c:v>
                </c:pt>
                <c:pt idx="41" formatCode="[$$-409]#,##0">
                  <c:v>1338643.2890999974</c:v>
                </c:pt>
                <c:pt idx="42" formatCode="[$$-409]#,##0">
                  <c:v>1349345.0991999991</c:v>
                </c:pt>
                <c:pt idx="43" formatCode="[$$-409]#,##0">
                  <c:v>1411367.5795999977</c:v>
                </c:pt>
                <c:pt idx="44" formatCode="[$$-409]#,##0">
                  <c:v>1437431.3093999962</c:v>
                </c:pt>
                <c:pt idx="45" formatCode="[$$-409]#,##0">
                  <c:v>1530052.3581999997</c:v>
                </c:pt>
                <c:pt idx="46" formatCode="[$$-409]#,##0">
                  <c:v>1459698.9931999994</c:v>
                </c:pt>
                <c:pt idx="47" formatCode="[$$-409]#,##0">
                  <c:v>1679603.4944999977</c:v>
                </c:pt>
                <c:pt idx="48" formatCode="[$$-409]#,##0">
                  <c:v>1624673.5435999976</c:v>
                </c:pt>
                <c:pt idx="49" formatCode="[$$-409]#,##0">
                  <c:v>1499841.6621999983</c:v>
                </c:pt>
                <c:pt idx="50" formatCode="[$$-409]#,##0">
                  <c:v>1221869.2694999978</c:v>
                </c:pt>
                <c:pt idx="51" formatCode="[$$-409]#,##0">
                  <c:v>1522947.0794999981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A77-4E5D-887A-9CD3D0EE437D}"/>
            </c:ext>
          </c:extLst>
        </c:ser>
        <c:ser>
          <c:idx val="1"/>
          <c:order val="1"/>
          <c:tx>
            <c:strRef>
              <c:f>'Top-Line Overview'!$AJ$5</c:f>
              <c:strCache>
                <c:ptCount val="1"/>
                <c:pt idx="0">
                  <c:v>Retail Sales </c:v>
                </c:pt>
              </c:strCache>
            </c:strRef>
          </c:tx>
          <c:spPr>
            <a:ln w="28575" cap="rnd">
              <a:solidFill>
                <a:srgbClr val="071829"/>
              </a:solidFill>
              <a:round/>
            </a:ln>
            <a:effectLst/>
          </c:spPr>
          <c:marker>
            <c:symbol val="none"/>
          </c:marker>
          <c:cat>
            <c:strRef>
              <c:f>'Top-Line Overview'!$AH$6:$AH$57</c:f>
              <c:strCache>
                <c:ptCount val="50"/>
                <c:pt idx="0">
                  <c:v>W1</c:v>
                </c:pt>
                <c:pt idx="4">
                  <c:v>W5</c:v>
                </c:pt>
                <c:pt idx="9">
                  <c:v>W10</c:v>
                </c:pt>
                <c:pt idx="14">
                  <c:v>W15</c:v>
                </c:pt>
                <c:pt idx="19">
                  <c:v>W20</c:v>
                </c:pt>
                <c:pt idx="24">
                  <c:v>W25</c:v>
                </c:pt>
                <c:pt idx="29">
                  <c:v>W30</c:v>
                </c:pt>
                <c:pt idx="34">
                  <c:v>W35</c:v>
                </c:pt>
                <c:pt idx="39">
                  <c:v>W40</c:v>
                </c:pt>
                <c:pt idx="44">
                  <c:v>W45</c:v>
                </c:pt>
                <c:pt idx="49">
                  <c:v>W50</c:v>
                </c:pt>
              </c:strCache>
            </c:strRef>
          </c:cat>
          <c:val>
            <c:numRef>
              <c:f>'Top-Line Overview'!$AJ$6:$AJ$57</c:f>
              <c:numCache>
                <c:formatCode>_-[$$-409]* #,##0_ ;_-[$$-409]* \-#,##0\ ;_-[$$-409]* "-"_ ;_-@_ </c:formatCode>
                <c:ptCount val="52"/>
                <c:pt idx="0">
                  <c:v>1831673.6730999982</c:v>
                </c:pt>
                <c:pt idx="1">
                  <c:v>1578910.4745999989</c:v>
                </c:pt>
                <c:pt idx="2">
                  <c:v>1524498.243199998</c:v>
                </c:pt>
                <c:pt idx="3">
                  <c:v>1553003.7583999978</c:v>
                </c:pt>
                <c:pt idx="4">
                  <c:v>1594643.7371999968</c:v>
                </c:pt>
                <c:pt idx="5">
                  <c:v>1627327.3190999969</c:v>
                </c:pt>
                <c:pt idx="6">
                  <c:v>1647264.390499999</c:v>
                </c:pt>
                <c:pt idx="7">
                  <c:v>1655222.1914999976</c:v>
                </c:pt>
                <c:pt idx="8">
                  <c:v>1630956.7246999955</c:v>
                </c:pt>
                <c:pt idx="9">
                  <c:v>1696820.685999997</c:v>
                </c:pt>
                <c:pt idx="10">
                  <c:v>1620337.3867999956</c:v>
                </c:pt>
                <c:pt idx="11">
                  <c:v>1699133.2161999976</c:v>
                </c:pt>
                <c:pt idx="12">
                  <c:v>1721909.7737</c:v>
                </c:pt>
                <c:pt idx="13">
                  <c:v>1719090.0645999985</c:v>
                </c:pt>
                <c:pt idx="14">
                  <c:v>1433393.8680999984</c:v>
                </c:pt>
                <c:pt idx="15">
                  <c:v>1650007.1814999967</c:v>
                </c:pt>
                <c:pt idx="16">
                  <c:v>1792002.2183999978</c:v>
                </c:pt>
                <c:pt idx="17">
                  <c:v>1801722.4402999978</c:v>
                </c:pt>
                <c:pt idx="18">
                  <c:v>1793492.4470999981</c:v>
                </c:pt>
                <c:pt idx="19">
                  <c:v>1703210.2592999972</c:v>
                </c:pt>
                <c:pt idx="20">
                  <c:v>1850935.8579999977</c:v>
                </c:pt>
                <c:pt idx="21">
                  <c:v>1802479.7981999989</c:v>
                </c:pt>
                <c:pt idx="22">
                  <c:v>1858957.0477999982</c:v>
                </c:pt>
                <c:pt idx="23">
                  <c:v>1683295.0235999962</c:v>
                </c:pt>
                <c:pt idx="24">
                  <c:v>1819638.3204999967</c:v>
                </c:pt>
                <c:pt idx="25">
                  <c:v>1916718.9256999975</c:v>
                </c:pt>
                <c:pt idx="26">
                  <c:v>1724317.817399997</c:v>
                </c:pt>
                <c:pt idx="27">
                  <c:v>2465374.7977000009</c:v>
                </c:pt>
                <c:pt idx="28">
                  <c:v>1991206.4227999952</c:v>
                </c:pt>
                <c:pt idx="29">
                  <c:v>1869660.9287999966</c:v>
                </c:pt>
                <c:pt idx="30">
                  <c:v>1866179.5719999976</c:v>
                </c:pt>
                <c:pt idx="31">
                  <c:v>1940182.3377999964</c:v>
                </c:pt>
                <c:pt idx="32">
                  <c:v>1967124.5803999954</c:v>
                </c:pt>
                <c:pt idx="33">
                  <c:v>1901661.7176999976</c:v>
                </c:pt>
                <c:pt idx="34">
                  <c:v>2254890.6761999987</c:v>
                </c:pt>
                <c:pt idx="35">
                  <c:v>2017933.2799999965</c:v>
                </c:pt>
                <c:pt idx="36">
                  <c:v>2019028.9299999985</c:v>
                </c:pt>
                <c:pt idx="37">
                  <c:v>2111956.3099999977</c:v>
                </c:pt>
                <c:pt idx="38">
                  <c:v>2161624.13</c:v>
                </c:pt>
                <c:pt idx="39">
                  <c:v>2028162.3499999985</c:v>
                </c:pt>
                <c:pt idx="40">
                  <c:v>1984389.3699999994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A77-4E5D-887A-9CD3D0EE43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6778432"/>
        <c:axId val="1366771712"/>
      </c:lineChart>
      <c:catAx>
        <c:axId val="136677843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6771712"/>
        <c:crosses val="autoZero"/>
        <c:auto val="1"/>
        <c:lblAlgn val="ctr"/>
        <c:lblOffset val="100"/>
        <c:noMultiLvlLbl val="0"/>
      </c:catAx>
      <c:valAx>
        <c:axId val="13667717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Retail 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$-409]#,##0.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677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'Top-Line Overview'!$Q$130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71C184"/>
            </a:solidFill>
            <a:ln>
              <a:noFill/>
            </a:ln>
            <a:effectLst/>
          </c:spPr>
          <c:invertIfNegative val="0"/>
          <c:dLbls>
            <c:numFmt formatCode="_-[$£-491]* #,##0.0,,&quot;M&quot;;\-[$£-491]* #,##0.00_-;_-[$£-491]* &quot;-&quot;??_-;_-@_-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'Top-Line Overview'!$R$129:$S$129</c:f>
              <c:strCache>
                <c:ptCount val="2"/>
                <c:pt idx="0">
                  <c:v>2016</c:v>
                </c:pt>
                <c:pt idx="1">
                  <c:v>2017</c:v>
                </c:pt>
              </c:strCache>
            </c:strRef>
          </c:cat>
          <c:val>
            <c:numRef>
              <c:f>'Top-Line Overview'!$R$130:$S$130</c:f>
              <c:numCache>
                <c:formatCode>[$$-409]#,##0</c:formatCode>
                <c:ptCount val="2"/>
                <c:pt idx="0">
                  <c:v>3536936.1000000071</c:v>
                </c:pt>
                <c:pt idx="1">
                  <c:v>7708651.6999999955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86-4A5F-8E28-F40B876DEADE}"/>
            </c:ext>
          </c:extLst>
        </c:ser>
        <c:ser>
          <c:idx val="1"/>
          <c:order val="1"/>
          <c:tx>
            <c:strRef>
              <c:f>'Top-Line Overview'!$Q$131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rgbClr val="16949B"/>
            </a:solidFill>
            <a:ln>
              <a:noFill/>
            </a:ln>
            <a:effectLst/>
          </c:spPr>
          <c:invertIfNegative val="0"/>
          <c:dLbls>
            <c:numFmt formatCode="_-[$$-409]* #,##0.0,,&quot;M&quot;\ ;_-[$$-409]* \-#,##0.0\ ;_-[$$-409]* &quot;-&quot;?_ ;_-@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50" b="1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'Top-Line Overview'!$R$129:$S$129</c:f>
              <c:strCache>
                <c:ptCount val="2"/>
                <c:pt idx="0">
                  <c:v>2016</c:v>
                </c:pt>
                <c:pt idx="1">
                  <c:v>2017</c:v>
                </c:pt>
              </c:strCache>
            </c:strRef>
          </c:cat>
          <c:val>
            <c:numRef>
              <c:f>'Top-Line Overview'!$R$131:$S$131</c:f>
              <c:numCache>
                <c:formatCode>[$$-409]#,##0</c:formatCode>
                <c:ptCount val="2"/>
                <c:pt idx="0">
                  <c:v>45020762.45799835</c:v>
                </c:pt>
                <c:pt idx="1">
                  <c:v>66812793.266901009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86-4A5F-8E28-F40B876DE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0022431"/>
        <c:axId val="710020031"/>
      </c:barChart>
      <c:catAx>
        <c:axId val="710022431"/>
        <c:scaling>
          <c:orientation val="minMax"/>
        </c:scaling>
        <c:delete val="1"/>
        <c:axPos val="b"/>
        <c:numFmt formatCode=";;;" sourceLinked="0"/>
        <c:majorTickMark val="out"/>
        <c:minorTickMark val="none"/>
        <c:tickLblPos val="nextTo"/>
        <c:crossAx val="710020031"/>
        <c:crosses val="autoZero"/>
        <c:auto val="1"/>
        <c:lblAlgn val="ctr"/>
        <c:lblOffset val="100"/>
        <c:noMultiLvlLbl val="0"/>
      </c:catAx>
      <c:valAx>
        <c:axId val="710020031"/>
        <c:scaling>
          <c:orientation val="minMax"/>
        </c:scaling>
        <c:delete val="1"/>
        <c:axPos val="l"/>
        <c:numFmt formatCode="[$$-409]#,##0" sourceLinked="1"/>
        <c:majorTickMark val="out"/>
        <c:minorTickMark val="none"/>
        <c:tickLblPos val="nextTo"/>
        <c:crossAx val="710022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[SampleData-TrashBags Analysis.xlsx]Top-Line Overview!Sales By Location</c:name>
    <c:fmtId val="11"/>
  </c:pivotSource>
  <c:chart>
    <c:autoTitleDeleted val="1"/>
    <c:pivotFmts>
      <c:pivotFmt>
        <c:idx val="0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1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</c:pivotFmt>
      <c:pivotFmt>
        <c:idx val="63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6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2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</c:pivotFmt>
      <c:pivotFmt>
        <c:idx val="84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8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8591929294840481"/>
          <c:y val="0.13247424931226379"/>
          <c:w val="0.62117259795069679"/>
          <c:h val="0.76137712203618457"/>
        </c:manualLayout>
      </c:layout>
      <c:pieChart>
        <c:varyColors val="1"/>
        <c:ser>
          <c:idx val="0"/>
          <c:order val="0"/>
          <c:tx>
            <c:strRef>
              <c:f>'Top-Line Overview'!$L$93:$L$95</c:f>
              <c:strCache>
                <c:ptCount val="1"/>
                <c:pt idx="0">
                  <c:v>2017 - Retail Sales </c:v>
                </c:pt>
              </c:strCache>
            </c:strRef>
          </c:tx>
          <c:spPr>
            <a:solidFill>
              <a:srgbClr val="71C184"/>
            </a:solidFill>
          </c:spPr>
          <c:dPt>
            <c:idx val="0"/>
            <c:bubble3D val="0"/>
            <c:spPr>
              <a:solidFill>
                <a:srgbClr val="71C18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5DF-4BFC-B9E7-A48F737F0A23}"/>
              </c:ext>
            </c:extLst>
          </c:dPt>
          <c:dPt>
            <c:idx val="1"/>
            <c:bubble3D val="0"/>
            <c:spPr>
              <a:solidFill>
                <a:srgbClr val="16949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5DF-4BFC-B9E7-A48F737F0A23}"/>
              </c:ext>
            </c:extLst>
          </c:dPt>
          <c:dLbls>
            <c:dLbl>
              <c:idx val="1"/>
              <c:layout>
                <c:manualLayout>
                  <c:x val="6.9080927398275704E-2"/>
                  <c:y val="-0.138641152906281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5DF-4BFC-B9E7-A48F737F0A23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Overview'!$L$96:$L$98</c:f>
              <c:numCache>
                <c:formatCode>[$$-409]#,##0</c:formatCode>
                <c:ptCount val="2"/>
                <c:pt idx="0">
                  <c:v>7708651.699999989</c:v>
                </c:pt>
                <c:pt idx="1">
                  <c:v>66801686.54890243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DF-4BFC-B9E7-A48F737F0A23}"/>
            </c:ext>
          </c:extLst>
        </c:ser>
        <c:ser>
          <c:idx val="1"/>
          <c:order val="1"/>
          <c:tx>
            <c:strRef>
              <c:f>'Top-Line Overview'!$M$93:$M$95</c:f>
              <c:strCache>
                <c:ptCount val="1"/>
                <c:pt idx="0">
                  <c:v>2017 - Retail Sales YoY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Overview'!$M$96:$M$98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9-55DF-4BFC-B9E7-A48F737F0A23}"/>
            </c:ext>
          </c:extLst>
        </c:ser>
        <c:ser>
          <c:idx val="2"/>
          <c:order val="2"/>
          <c:tx>
            <c:strRef>
              <c:f>'Top-Line Overview'!$N$93:$N$95</c:f>
              <c:strCache>
                <c:ptCount val="1"/>
                <c:pt idx="0">
                  <c:v>2017 - Retail Sales Delta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Overview'!$N$96:$N$98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E-55DF-4BFC-B9E7-A48F737F0A23}"/>
            </c:ext>
          </c:extLst>
        </c:ser>
        <c:ser>
          <c:idx val="3"/>
          <c:order val="3"/>
          <c:tx>
            <c:strRef>
              <c:f>'Top-Line Overview'!$O$93:$O$95</c:f>
              <c:strCache>
                <c:ptCount val="1"/>
                <c:pt idx="0">
                  <c:v>2017 - Share of 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Overview'!$O$96:$O$98</c:f>
              <c:numCache>
                <c:formatCode>0.00%</c:formatCode>
                <c:ptCount val="2"/>
                <c:pt idx="0">
                  <c:v>0.10345747826629335</c:v>
                </c:pt>
                <c:pt idx="1">
                  <c:v>0.89654252173370652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55DF-4BFC-B9E7-A48F737F0A23}"/>
            </c:ext>
          </c:extLst>
        </c:ser>
        <c:ser>
          <c:idx val="4"/>
          <c:order val="4"/>
          <c:tx>
            <c:strRef>
              <c:f>'Top-Line Overview'!$P$93:$P$95</c:f>
              <c:strCache>
                <c:ptCount val="1"/>
                <c:pt idx="0">
                  <c:v>2017 - Units Sold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Overview'!$P$96:$P$98</c:f>
              <c:numCache>
                <c:formatCode>#,##0</c:formatCode>
                <c:ptCount val="2"/>
                <c:pt idx="0">
                  <c:v>751444</c:v>
                </c:pt>
                <c:pt idx="1">
                  <c:v>3991657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55DF-4BFC-B9E7-A48F737F0A23}"/>
            </c:ext>
          </c:extLst>
        </c:ser>
        <c:ser>
          <c:idx val="5"/>
          <c:order val="5"/>
          <c:tx>
            <c:strRef>
              <c:f>'Top-Line Overview'!$Q$93:$Q$95</c:f>
              <c:strCache>
                <c:ptCount val="1"/>
                <c:pt idx="0">
                  <c:v>2017 - Units Sold YoY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A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C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Overview'!$Q$96:$Q$98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1D-55DF-4BFC-B9E7-A48F737F0A23}"/>
            </c:ext>
          </c:extLst>
        </c:ser>
        <c:ser>
          <c:idx val="6"/>
          <c:order val="6"/>
          <c:tx>
            <c:strRef>
              <c:f>'Top-Line Overview'!$R$93:$R$95</c:f>
              <c:strCache>
                <c:ptCount val="1"/>
                <c:pt idx="0">
                  <c:v>2017 - YoY (Units)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Overview'!$R$96:$R$98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22-55DF-4BFC-B9E7-A48F737F0A2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14812346288384"/>
          <c:y val="0.15062887073785583"/>
          <c:w val="0.85636562916607728"/>
          <c:h val="0.6313360613813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'Top-Line Overview'!$L$63</c:f>
              <c:strCache>
                <c:ptCount val="1"/>
                <c:pt idx="0">
                  <c:v>MS Delta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F1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F5-44FE-BEC3-7291BE5C3250}"/>
              </c:ext>
            </c:extLst>
          </c:dPt>
          <c:dPt>
            <c:idx val="1"/>
            <c:invertIfNegative val="0"/>
            <c:bubble3D val="0"/>
            <c:spPr>
              <a:solidFill>
                <a:srgbClr val="C2F1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F5-44FE-BEC3-7291BE5C3250}"/>
              </c:ext>
            </c:extLst>
          </c:dPt>
          <c:dPt>
            <c:idx val="2"/>
            <c:invertIfNegative val="0"/>
            <c:bubble3D val="0"/>
            <c:spPr>
              <a:solidFill>
                <a:srgbClr val="C2F1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F5-44FE-BEC3-7291BE5C3250}"/>
              </c:ext>
            </c:extLst>
          </c:dPt>
          <c:dPt>
            <c:idx val="3"/>
            <c:invertIfNegative val="0"/>
            <c:bubble3D val="0"/>
            <c:spPr>
              <a:solidFill>
                <a:srgbClr val="FFB0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F5-44FE-BEC3-7291BE5C3250}"/>
              </c:ext>
            </c:extLst>
          </c:dPt>
          <c:dPt>
            <c:idx val="4"/>
            <c:invertIfNegative val="0"/>
            <c:bubble3D val="0"/>
            <c:spPr>
              <a:solidFill>
                <a:srgbClr val="FFB0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4EF5-44FE-BEC3-7291BE5C3250}"/>
              </c:ext>
            </c:extLst>
          </c:dPt>
          <c:dPt>
            <c:idx val="5"/>
            <c:invertIfNegative val="0"/>
            <c:bubble3D val="0"/>
            <c:spPr>
              <a:solidFill>
                <a:srgbClr val="FFB0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F5-44FE-BEC3-7291BE5C3250}"/>
              </c:ext>
            </c:extLst>
          </c:dPt>
          <c:cat>
            <c:strRef>
              <c:f>'Top-Line Overview'!$K$64:$K$69</c:f>
              <c:strCache>
                <c:ptCount val="6"/>
                <c:pt idx="0">
                  <c:v>Thrifty</c:v>
                </c:pt>
                <c:pt idx="1">
                  <c:v>Simple</c:v>
                </c:pt>
                <c:pt idx="2">
                  <c:v>UNNI</c:v>
                </c:pt>
                <c:pt idx="3">
                  <c:v>MegaDeal</c:v>
                </c:pt>
                <c:pt idx="4">
                  <c:v>Land</c:v>
                </c:pt>
                <c:pt idx="5">
                  <c:v>Happy</c:v>
                </c:pt>
              </c:strCache>
            </c:strRef>
          </c:cat>
          <c:val>
            <c:numRef>
              <c:f>'Top-Line Overview'!$L$64:$L$69</c:f>
              <c:numCache>
                <c:formatCode>0.00%</c:formatCode>
                <c:ptCount val="6"/>
                <c:pt idx="0">
                  <c:v>3.7019429910399443E-2</c:v>
                </c:pt>
                <c:pt idx="1">
                  <c:v>2.199499096960994E-2</c:v>
                </c:pt>
                <c:pt idx="2">
                  <c:v>7.4999999999999997E-3</c:v>
                </c:pt>
                <c:pt idx="3">
                  <c:v>-2.022830788743403E-2</c:v>
                </c:pt>
                <c:pt idx="4">
                  <c:v>-2.2499999999999999E-2</c:v>
                </c:pt>
                <c:pt idx="5">
                  <c:v>-3.1496376261148651E-2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F5-44FE-BEC3-7291BE5C32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overlap val="-27"/>
        <c:axId val="887852543"/>
        <c:axId val="887858783"/>
      </c:barChart>
      <c:catAx>
        <c:axId val="887852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0" spcFirstLastPara="1" vertOverflow="ellipsis" wrap="square" anchor="b" anchorCtr="0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7858783"/>
        <c:crosses val="autoZero"/>
        <c:auto val="1"/>
        <c:lblAlgn val="ctr"/>
        <c:lblOffset val="1000"/>
        <c:noMultiLvlLbl val="0"/>
      </c:catAx>
      <c:valAx>
        <c:axId val="887858783"/>
        <c:scaling>
          <c:orientation val="minMax"/>
          <c:max val="4.0000000000000008E-2"/>
          <c:min val="-4.0000000000000008E-2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Market</a:t>
                </a:r>
                <a:r>
                  <a:rPr lang="en-GB" baseline="0"/>
                  <a:t> Share Change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7852543"/>
        <c:crosses val="autoZero"/>
        <c:crossBetween val="between"/>
        <c:minorUnit val="2.0000000000000005E-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'Trash Bag Size'!$C$197</c:f>
              <c:strCache>
                <c:ptCount val="1"/>
                <c:pt idx="0">
                  <c:v>Retail Sales 2016</c:v>
                </c:pt>
              </c:strCache>
            </c:strRef>
          </c:tx>
          <c:spPr>
            <a:solidFill>
              <a:srgbClr val="ADBCCC"/>
            </a:solidFill>
            <a:ln>
              <a:noFill/>
            </a:ln>
            <a:effectLst/>
          </c:spPr>
          <c:invertIfNegative val="0"/>
          <c:dLbls>
            <c:numFmt formatCode="_-[$$-540A]* #,##0.0,,&quot;M&quot;\ ;_-[$$-540A]* \-#,##0.00\ ;_-[$$-540A]* &quot;-&quot;??_ ;_-@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'Trash Bag Size'!$B$198:$B$203</c:f>
              <c:numCache>
                <c:formatCode>General</c:formatCode>
                <c:ptCount val="6"/>
                <c:pt idx="0">
                  <c:v>13</c:v>
                </c:pt>
                <c:pt idx="1">
                  <c:v>8</c:v>
                </c:pt>
                <c:pt idx="2">
                  <c:v>30</c:v>
                </c:pt>
                <c:pt idx="3">
                  <c:v>12</c:v>
                </c:pt>
                <c:pt idx="4">
                  <c:v>3</c:v>
                </c:pt>
                <c:pt idx="5">
                  <c:v>33</c:v>
                </c:pt>
              </c:numCache>
            </c:numRef>
          </c:cat>
          <c:val>
            <c:numRef>
              <c:f>'Trash Bag Size'!$C$198:$C$203</c:f>
              <c:numCache>
                <c:formatCode>[$$-409]#,##0</c:formatCode>
                <c:ptCount val="6"/>
                <c:pt idx="0">
                  <c:v>26992429.270399787</c:v>
                </c:pt>
                <c:pt idx="1">
                  <c:v>5060354.0177000239</c:v>
                </c:pt>
                <c:pt idx="2">
                  <c:v>3499922.7564000031</c:v>
                </c:pt>
                <c:pt idx="3">
                  <c:v>2245444.9000000004</c:v>
                </c:pt>
                <c:pt idx="4">
                  <c:v>1022167.1699999989</c:v>
                </c:pt>
                <c:pt idx="5">
                  <c:v>1784469.1975999922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E4-427B-94F6-FAA6DDE12A66}"/>
            </c:ext>
          </c:extLst>
        </c:ser>
        <c:ser>
          <c:idx val="3"/>
          <c:order val="3"/>
          <c:tx>
            <c:strRef>
              <c:f>'Trash Bag Size'!$E$197</c:f>
              <c:strCache>
                <c:ptCount val="1"/>
                <c:pt idx="0">
                  <c:v>Retail Sales 2017</c:v>
                </c:pt>
              </c:strCache>
            </c:strRef>
          </c:tx>
          <c:spPr>
            <a:solidFill>
              <a:srgbClr val="071829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26E4-427B-94F6-FAA6DDE12A66}"/>
                </c:ext>
              </c:extLst>
            </c:dLbl>
            <c:dLbl>
              <c:idx val="1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6E4-427B-94F6-FAA6DDE12A66}"/>
                </c:ext>
              </c:extLst>
            </c:dLbl>
            <c:dLbl>
              <c:idx val="2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26E4-427B-94F6-FAA6DDE12A66}"/>
                </c:ext>
              </c:extLst>
            </c:dLbl>
            <c:dLbl>
              <c:idx val="3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26E4-427B-94F6-FAA6DDE12A66}"/>
                </c:ext>
              </c:extLst>
            </c:dLbl>
            <c:dLbl>
              <c:idx val="4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26E4-427B-94F6-FAA6DDE12A66}"/>
                </c:ext>
              </c:extLst>
            </c:dLbl>
            <c:dLbl>
              <c:idx val="5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26E4-427B-94F6-FAA6DDE12A66}"/>
                </c:ext>
              </c:extLst>
            </c:dLbl>
            <c:numFmt formatCode="[$$-409]#,##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'Trash Bag Size'!$B$198:$B$203</c:f>
              <c:numCache>
                <c:formatCode>General</c:formatCode>
                <c:ptCount val="6"/>
                <c:pt idx="0">
                  <c:v>13</c:v>
                </c:pt>
                <c:pt idx="1">
                  <c:v>8</c:v>
                </c:pt>
                <c:pt idx="2">
                  <c:v>30</c:v>
                </c:pt>
                <c:pt idx="3">
                  <c:v>12</c:v>
                </c:pt>
                <c:pt idx="4">
                  <c:v>3</c:v>
                </c:pt>
                <c:pt idx="5">
                  <c:v>33</c:v>
                </c:pt>
              </c:numCache>
            </c:numRef>
          </c:cat>
          <c:val>
            <c:numRef>
              <c:f>'Trash Bag Size'!$E$198:$E$203</c:f>
              <c:numCache>
                <c:formatCode>[$$-409]#,##0</c:formatCode>
                <c:ptCount val="6"/>
                <c:pt idx="0">
                  <c:v>40328332.984100245</c:v>
                </c:pt>
                <c:pt idx="1">
                  <c:v>7379546.410000043</c:v>
                </c:pt>
                <c:pt idx="2">
                  <c:v>4941785.2453999929</c:v>
                </c:pt>
                <c:pt idx="3">
                  <c:v>3968487.6000000024</c:v>
                </c:pt>
                <c:pt idx="4">
                  <c:v>2379960.589999998</c:v>
                </c:pt>
                <c:pt idx="5">
                  <c:v>2165065.0812999955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E4-427B-94F6-FAA6DDE12A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-19"/>
        <c:axId val="2035447120"/>
        <c:axId val="203543608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'Trash Bag Size'!$B$197</c15:sqref>
                        </c15:formulaRef>
                      </c:ext>
                    </c:extLst>
                    <c:strCache>
                      <c:ptCount val="1"/>
                      <c:pt idx="0">
                        <c:v>Gallon Size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ormulaRef>
                          <c15:sqref>'Trash Bag Size'!$B$198:$B$203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13</c:v>
                      </c:pt>
                      <c:pt idx="1">
                        <c:v>8</c:v>
                      </c:pt>
                      <c:pt idx="2">
                        <c:v>30</c:v>
                      </c:pt>
                      <c:pt idx="3">
                        <c:v>12</c:v>
                      </c:pt>
                      <c:pt idx="4">
                        <c:v>3</c:v>
                      </c:pt>
                      <c:pt idx="5">
                        <c:v>33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'Trash Bag Size'!$B$198:$B$203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13</c:v>
                      </c:pt>
                      <c:pt idx="1">
                        <c:v>8</c:v>
                      </c:pt>
                      <c:pt idx="2">
                        <c:v>30</c:v>
                      </c:pt>
                      <c:pt idx="3">
                        <c:v>12</c:v>
                      </c:pt>
                      <c:pt idx="4">
                        <c:v>3</c:v>
                      </c:pt>
                      <c:pt idx="5">
                        <c:v>33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6E4-427B-94F6-FAA6DDE12A6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'Trash Bag Size'!$D$197</c15:sqref>
                        </c15:formulaRef>
                      </c:ext>
                    </c:extLst>
                    <c:strCache>
                      <c:ptCount val="1"/>
                      <c:pt idx="0">
                        <c:v>YoY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'Trash Bag Size'!$B$198:$B$203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13</c:v>
                      </c:pt>
                      <c:pt idx="1">
                        <c:v>8</c:v>
                      </c:pt>
                      <c:pt idx="2">
                        <c:v>30</c:v>
                      </c:pt>
                      <c:pt idx="3">
                        <c:v>12</c:v>
                      </c:pt>
                      <c:pt idx="4">
                        <c:v>3</c:v>
                      </c:pt>
                      <c:pt idx="5">
                        <c:v>33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'Trash Bag Size'!$D$198:$D$203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6E4-427B-94F6-FAA6DDE12A66}"/>
                  </c:ext>
                </c:extLst>
              </c15:ser>
            </c15:filteredBarSeries>
          </c:ext>
        </c:extLst>
      </c:barChart>
      <c:catAx>
        <c:axId val="2035447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Trash</a:t>
                </a:r>
                <a:r>
                  <a:rPr lang="en-GB" baseline="0" dirty="0"/>
                  <a:t> Bag Gallon Size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436080"/>
        <c:crosses val="autoZero"/>
        <c:auto val="1"/>
        <c:lblAlgn val="ctr"/>
        <c:lblOffset val="100"/>
        <c:noMultiLvlLbl val="0"/>
      </c:catAx>
      <c:valAx>
        <c:axId val="2035436080"/>
        <c:scaling>
          <c:orientation val="minMax"/>
        </c:scaling>
        <c:delete val="1"/>
        <c:axPos val="l"/>
        <c:numFmt formatCode="[$$-409]#,##0" sourceLinked="1"/>
        <c:majorTickMark val="none"/>
        <c:minorTickMark val="none"/>
        <c:tickLblPos val="nextTo"/>
        <c:crossAx val="203544712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083523457372875E-2"/>
          <c:y val="3.8943958055377918E-2"/>
          <c:w val="0.90135866572260248"/>
          <c:h val="0.82256329856718569"/>
        </c:manualLayout>
      </c:layout>
      <c:lineChart>
        <c:grouping val="standard"/>
        <c:varyColors val="0"/>
        <c:ser>
          <c:idx val="0"/>
          <c:order val="0"/>
          <c:tx>
            <c:strRef>
              <c:f>Pricing!$AQ$3</c:f>
              <c:strCache>
                <c:ptCount val="1"/>
                <c:pt idx="0">
                  <c:v>2016</c:v>
                </c:pt>
              </c:strCache>
            </c:strRef>
          </c:tx>
          <c:spPr>
            <a:ln w="28575" cap="rnd">
              <a:solidFill>
                <a:srgbClr val="ADBCCC"/>
              </a:solidFill>
              <a:round/>
            </a:ln>
            <a:effectLst/>
          </c:spPr>
          <c:marker>
            <c:symbol val="none"/>
          </c:marker>
          <c:cat>
            <c:strRef>
              <c:f>Pricing!$AP$4:$AP$55</c:f>
              <c:strCache>
                <c:ptCount val="50"/>
                <c:pt idx="0">
                  <c:v>W01</c:v>
                </c:pt>
                <c:pt idx="4">
                  <c:v>W05</c:v>
                </c:pt>
                <c:pt idx="9">
                  <c:v>W10</c:v>
                </c:pt>
                <c:pt idx="14">
                  <c:v>W15</c:v>
                </c:pt>
                <c:pt idx="19">
                  <c:v>W20</c:v>
                </c:pt>
                <c:pt idx="24">
                  <c:v>W25</c:v>
                </c:pt>
                <c:pt idx="29">
                  <c:v>W30</c:v>
                </c:pt>
                <c:pt idx="34">
                  <c:v>W35</c:v>
                </c:pt>
                <c:pt idx="39">
                  <c:v>W40</c:v>
                </c:pt>
                <c:pt idx="44">
                  <c:v>W45</c:v>
                </c:pt>
                <c:pt idx="49">
                  <c:v>W50</c:v>
                </c:pt>
              </c:strCache>
            </c:strRef>
          </c:cat>
          <c:val>
            <c:numRef>
              <c:f>Pricing!$AQ$4:$AQ$55</c:f>
              <c:numCache>
                <c:formatCode>_-[$$-409]* #,##0.00_ ;_-[$$-409]* \-#,##0.00\ ;_-[$$-409]* "-"??_ ;_-@_ </c:formatCode>
                <c:ptCount val="52"/>
                <c:pt idx="0">
                  <c:v>16.400251031476575</c:v>
                </c:pt>
                <c:pt idx="1">
                  <c:v>15.283402796905174</c:v>
                </c:pt>
                <c:pt idx="2">
                  <c:v>16.352683908147419</c:v>
                </c:pt>
                <c:pt idx="3">
                  <c:v>16.333963887845773</c:v>
                </c:pt>
                <c:pt idx="4">
                  <c:v>16.062751917269278</c:v>
                </c:pt>
                <c:pt idx="5">
                  <c:v>16.386391091845894</c:v>
                </c:pt>
                <c:pt idx="6">
                  <c:v>16.314919537181133</c:v>
                </c:pt>
                <c:pt idx="7">
                  <c:v>16.917695104729543</c:v>
                </c:pt>
                <c:pt idx="8">
                  <c:v>16.761381728043254</c:v>
                </c:pt>
                <c:pt idx="9">
                  <c:v>16.924975608056943</c:v>
                </c:pt>
                <c:pt idx="10">
                  <c:v>16.314012196391356</c:v>
                </c:pt>
                <c:pt idx="11">
                  <c:v>15.850155143738</c:v>
                </c:pt>
                <c:pt idx="12">
                  <c:v>16.470282260773043</c:v>
                </c:pt>
                <c:pt idx="13">
                  <c:v>16.762274016239818</c:v>
                </c:pt>
                <c:pt idx="14">
                  <c:v>17.47337433282841</c:v>
                </c:pt>
                <c:pt idx="15">
                  <c:v>17.105443080647056</c:v>
                </c:pt>
                <c:pt idx="16">
                  <c:v>16.748328378681286</c:v>
                </c:pt>
                <c:pt idx="17">
                  <c:v>17.100087677342088</c:v>
                </c:pt>
                <c:pt idx="18">
                  <c:v>17.449086703542484</c:v>
                </c:pt>
                <c:pt idx="19">
                  <c:v>17.243822200462585</c:v>
                </c:pt>
                <c:pt idx="20">
                  <c:v>17.111936724135333</c:v>
                </c:pt>
                <c:pt idx="21">
                  <c:v>16.772397480414025</c:v>
                </c:pt>
                <c:pt idx="22">
                  <c:v>16.948662862488245</c:v>
                </c:pt>
                <c:pt idx="23">
                  <c:v>16.844084225315921</c:v>
                </c:pt>
                <c:pt idx="24">
                  <c:v>16.850870604939168</c:v>
                </c:pt>
                <c:pt idx="25">
                  <c:v>16.315594215552498</c:v>
                </c:pt>
                <c:pt idx="26">
                  <c:v>16.016341856758359</c:v>
                </c:pt>
                <c:pt idx="27">
                  <c:v>15.357270208954168</c:v>
                </c:pt>
                <c:pt idx="28">
                  <c:v>15.902463462270131</c:v>
                </c:pt>
                <c:pt idx="29">
                  <c:v>16.313701886599915</c:v>
                </c:pt>
                <c:pt idx="30">
                  <c:v>16.64278168971342</c:v>
                </c:pt>
                <c:pt idx="31">
                  <c:v>16.259226621155619</c:v>
                </c:pt>
                <c:pt idx="32">
                  <c:v>16.091996062667214</c:v>
                </c:pt>
                <c:pt idx="33">
                  <c:v>15.954973666345115</c:v>
                </c:pt>
                <c:pt idx="34">
                  <c:v>15.895869593712238</c:v>
                </c:pt>
                <c:pt idx="35">
                  <c:v>16.204688294830351</c:v>
                </c:pt>
                <c:pt idx="36">
                  <c:v>16.077355301558807</c:v>
                </c:pt>
                <c:pt idx="37">
                  <c:v>16.298582601052178</c:v>
                </c:pt>
                <c:pt idx="38">
                  <c:v>15.932864662391625</c:v>
                </c:pt>
                <c:pt idx="39">
                  <c:v>15.409656184649721</c:v>
                </c:pt>
                <c:pt idx="40">
                  <c:v>15.527906820477023</c:v>
                </c:pt>
                <c:pt idx="41">
                  <c:v>15.467151278645323</c:v>
                </c:pt>
                <c:pt idx="42">
                  <c:v>15.509999416212727</c:v>
                </c:pt>
                <c:pt idx="43">
                  <c:v>15.611519142399267</c:v>
                </c:pt>
                <c:pt idx="44">
                  <c:v>15.923508843770705</c:v>
                </c:pt>
                <c:pt idx="45">
                  <c:v>15.662309236410429</c:v>
                </c:pt>
                <c:pt idx="46">
                  <c:v>15.652656407843804</c:v>
                </c:pt>
                <c:pt idx="47">
                  <c:v>15.237984161465416</c:v>
                </c:pt>
                <c:pt idx="48">
                  <c:v>15.163976049298288</c:v>
                </c:pt>
                <c:pt idx="49">
                  <c:v>15.253220741262238</c:v>
                </c:pt>
                <c:pt idx="50">
                  <c:v>15.251660939622148</c:v>
                </c:pt>
                <c:pt idx="51">
                  <c:v>14.591307491580066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A67-4A01-981A-8A5C2E96FE11}"/>
            </c:ext>
          </c:extLst>
        </c:ser>
        <c:ser>
          <c:idx val="1"/>
          <c:order val="1"/>
          <c:tx>
            <c:strRef>
              <c:f>Pricing!$AR$3</c:f>
              <c:strCache>
                <c:ptCount val="1"/>
                <c:pt idx="0">
                  <c:v>2017</c:v>
                </c:pt>
              </c:strCache>
            </c:strRef>
          </c:tx>
          <c:spPr>
            <a:ln w="28575" cap="rnd">
              <a:solidFill>
                <a:srgbClr val="071829"/>
              </a:solidFill>
              <a:round/>
            </a:ln>
            <a:effectLst/>
          </c:spPr>
          <c:marker>
            <c:symbol val="none"/>
          </c:marker>
          <c:dPt>
            <c:idx val="11"/>
            <c:marker>
              <c:symbol val="circle"/>
              <c:size val="8"/>
              <c:spPr>
                <a:solidFill>
                  <a:srgbClr val="16949B"/>
                </a:solidFill>
                <a:ln w="22225">
                  <a:solidFill>
                    <a:schemeClr val="bg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A67-4A01-981A-8A5C2E96FE11}"/>
              </c:ext>
            </c:extLst>
          </c:dPt>
          <c:dPt>
            <c:idx val="19"/>
            <c:marker>
              <c:symbol val="circle"/>
              <c:size val="8"/>
              <c:spPr>
                <a:solidFill>
                  <a:srgbClr val="16949B"/>
                </a:solidFill>
                <a:ln w="22225">
                  <a:solidFill>
                    <a:schemeClr val="bg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A67-4A01-981A-8A5C2E96FE11}"/>
              </c:ext>
            </c:extLst>
          </c:dPt>
          <c:dPt>
            <c:idx val="28"/>
            <c:marker>
              <c:symbol val="circle"/>
              <c:size val="8"/>
              <c:spPr>
                <a:solidFill>
                  <a:srgbClr val="16949B"/>
                </a:solidFill>
                <a:ln w="22225">
                  <a:solidFill>
                    <a:schemeClr val="bg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BA67-4A01-981A-8A5C2E96FE11}"/>
              </c:ext>
            </c:extLst>
          </c:dPt>
          <c:dPt>
            <c:idx val="29"/>
            <c:marker>
              <c:symbol val="circle"/>
              <c:size val="8"/>
              <c:spPr>
                <a:solidFill>
                  <a:srgbClr val="FF5951"/>
                </a:solidFill>
                <a:ln w="22225">
                  <a:solidFill>
                    <a:schemeClr val="bg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A67-4A01-981A-8A5C2E96FE11}"/>
              </c:ext>
            </c:extLst>
          </c:dPt>
          <c:dLbls>
            <c:dLbl>
              <c:idx val="11"/>
              <c:layout>
                <c:manualLayout>
                  <c:x val="-3.1098009766038062E-2"/>
                  <c:y val="-3.47222222222222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67-4A01-981A-8A5C2E96FE11}"/>
                </c:ext>
              </c:extLst>
            </c:dLbl>
            <c:dLbl>
              <c:idx val="19"/>
              <c:layout>
                <c:manualLayout>
                  <c:x val="-3.4371484478252654E-2"/>
                  <c:y val="5.05050505050504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A67-4A01-981A-8A5C2E96FE11}"/>
                </c:ext>
              </c:extLst>
            </c:dLbl>
            <c:dLbl>
              <c:idx val="28"/>
              <c:layout>
                <c:manualLayout>
                  <c:x val="-4.09184339026816E-2"/>
                  <c:y val="-3.7878787878787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67-4A01-981A-8A5C2E96FE11}"/>
                </c:ext>
              </c:extLst>
            </c:dLbl>
            <c:dLbl>
              <c:idx val="29"/>
              <c:layout>
                <c:manualLayout>
                  <c:x val="-3.6011559693356635E-2"/>
                  <c:y val="3.39545596210532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A67-4A01-981A-8A5C2E96FE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Pricing!$AP$4:$AP$55</c:f>
              <c:strCache>
                <c:ptCount val="50"/>
                <c:pt idx="0">
                  <c:v>W01</c:v>
                </c:pt>
                <c:pt idx="4">
                  <c:v>W05</c:v>
                </c:pt>
                <c:pt idx="9">
                  <c:v>W10</c:v>
                </c:pt>
                <c:pt idx="14">
                  <c:v>W15</c:v>
                </c:pt>
                <c:pt idx="19">
                  <c:v>W20</c:v>
                </c:pt>
                <c:pt idx="24">
                  <c:v>W25</c:v>
                </c:pt>
                <c:pt idx="29">
                  <c:v>W30</c:v>
                </c:pt>
                <c:pt idx="34">
                  <c:v>W35</c:v>
                </c:pt>
                <c:pt idx="39">
                  <c:v>W40</c:v>
                </c:pt>
                <c:pt idx="44">
                  <c:v>W45</c:v>
                </c:pt>
                <c:pt idx="49">
                  <c:v>W50</c:v>
                </c:pt>
              </c:strCache>
            </c:strRef>
          </c:cat>
          <c:val>
            <c:numRef>
              <c:f>Pricing!$AR$4:$AR$55</c:f>
              <c:numCache>
                <c:formatCode>_-[$$-409]* #,##0.00_ ;_-[$$-409]* \-#,##0.00\ ;_-[$$-409]* "-"??_ ;_-@_ </c:formatCode>
                <c:ptCount val="52"/>
                <c:pt idx="0">
                  <c:v>14.675490519564629</c:v>
                </c:pt>
                <c:pt idx="1">
                  <c:v>14.719617877506126</c:v>
                </c:pt>
                <c:pt idx="2">
                  <c:v>15.011438769242854</c:v>
                </c:pt>
                <c:pt idx="3">
                  <c:v>15.021922718305756</c:v>
                </c:pt>
                <c:pt idx="4">
                  <c:v>15.762484678256186</c:v>
                </c:pt>
                <c:pt idx="5">
                  <c:v>15.989008499204184</c:v>
                </c:pt>
                <c:pt idx="6">
                  <c:v>16.155196716874542</c:v>
                </c:pt>
                <c:pt idx="7">
                  <c:v>15.645637957108136</c:v>
                </c:pt>
                <c:pt idx="8">
                  <c:v>15.541832302971944</c:v>
                </c:pt>
                <c:pt idx="9">
                  <c:v>15.61474705314007</c:v>
                </c:pt>
                <c:pt idx="10">
                  <c:v>16.124926087302576</c:v>
                </c:pt>
                <c:pt idx="11">
                  <c:v>16.237145918494075</c:v>
                </c:pt>
                <c:pt idx="12">
                  <c:v>15.588546876329627</c:v>
                </c:pt>
                <c:pt idx="13">
                  <c:v>15.865065512277491</c:v>
                </c:pt>
                <c:pt idx="14">
                  <c:v>15.809722155312176</c:v>
                </c:pt>
                <c:pt idx="15">
                  <c:v>15.960738536689133</c:v>
                </c:pt>
                <c:pt idx="16">
                  <c:v>15.878065233648144</c:v>
                </c:pt>
                <c:pt idx="17">
                  <c:v>15.600013162132656</c:v>
                </c:pt>
                <c:pt idx="18">
                  <c:v>15.608417128634455</c:v>
                </c:pt>
                <c:pt idx="19">
                  <c:v>16.433068388858299</c:v>
                </c:pt>
                <c:pt idx="20">
                  <c:v>16.22827714663951</c:v>
                </c:pt>
                <c:pt idx="21">
                  <c:v>16.138728508375312</c:v>
                </c:pt>
                <c:pt idx="22">
                  <c:v>16.218317552736693</c:v>
                </c:pt>
                <c:pt idx="23">
                  <c:v>15.738954212361714</c:v>
                </c:pt>
                <c:pt idx="24">
                  <c:v>15.437517839176772</c:v>
                </c:pt>
                <c:pt idx="25">
                  <c:v>15.755629032682286</c:v>
                </c:pt>
                <c:pt idx="26">
                  <c:v>16.17521452461564</c:v>
                </c:pt>
                <c:pt idx="27">
                  <c:v>15.660761607602266</c:v>
                </c:pt>
                <c:pt idx="28">
                  <c:v>16.498350271340577</c:v>
                </c:pt>
                <c:pt idx="29">
                  <c:v>14.140300154278943</c:v>
                </c:pt>
                <c:pt idx="30">
                  <c:v>15.161610518149006</c:v>
                </c:pt>
                <c:pt idx="31">
                  <c:v>15.898545857299686</c:v>
                </c:pt>
                <c:pt idx="32">
                  <c:v>15.741394497079263</c:v>
                </c:pt>
                <c:pt idx="33">
                  <c:v>15.573785081031494</c:v>
                </c:pt>
                <c:pt idx="34">
                  <c:v>15.359382062022821</c:v>
                </c:pt>
                <c:pt idx="35">
                  <c:v>15.618254140225947</c:v>
                </c:pt>
                <c:pt idx="36">
                  <c:v>15.839019527880158</c:v>
                </c:pt>
                <c:pt idx="37">
                  <c:v>16.115746118930467</c:v>
                </c:pt>
                <c:pt idx="38">
                  <c:v>16.126992779029351</c:v>
                </c:pt>
                <c:pt idx="39">
                  <c:v>15.870128637491083</c:v>
                </c:pt>
                <c:pt idx="40">
                  <c:v>15.901701906051443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BA67-4A01-981A-8A5C2E96F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5558095"/>
        <c:axId val="747804575"/>
      </c:lineChart>
      <c:catAx>
        <c:axId val="1365558095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7804575"/>
        <c:crosses val="autoZero"/>
        <c:auto val="1"/>
        <c:lblAlgn val="ctr"/>
        <c:lblOffset val="100"/>
        <c:noMultiLvlLbl val="0"/>
      </c:catAx>
      <c:valAx>
        <c:axId val="747804575"/>
        <c:scaling>
          <c:orientation val="minMax"/>
        </c:scaling>
        <c:delete val="0"/>
        <c:axPos val="l"/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5558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'Pricing by Brand'!$B$19</c:f>
              <c:strCache>
                <c:ptCount val="1"/>
                <c:pt idx="0">
                  <c:v>ASP 2016</c:v>
                </c:pt>
              </c:strCache>
            </c:strRef>
          </c:tx>
          <c:spPr>
            <a:solidFill>
              <a:srgbClr val="ADBC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'Pricing by Brand'!$A$20:$A$24</c:f>
              <c:strCache>
                <c:ptCount val="5"/>
                <c:pt idx="0">
                  <c:v>Happy</c:v>
                </c:pt>
                <c:pt idx="1">
                  <c:v>Simple</c:v>
                </c:pt>
                <c:pt idx="2">
                  <c:v>Thrifty</c:v>
                </c:pt>
                <c:pt idx="3">
                  <c:v>PlasticPlace</c:v>
                </c:pt>
                <c:pt idx="4">
                  <c:v>MegaDeal</c:v>
                </c:pt>
              </c:strCache>
            </c:strRef>
          </c:cat>
          <c:val>
            <c:numRef>
              <c:f>'Pricing by Brand'!$B$20:$B$24</c:f>
              <c:numCache>
                <c:formatCode>_-[$$-409]* #,##0.00_ ;_-[$$-409]* \-#,##0.00\ ;_-[$$-409]* "-"??_ ;_-@_ </c:formatCode>
                <c:ptCount val="5"/>
                <c:pt idx="0">
                  <c:v>14.254385114104981</c:v>
                </c:pt>
                <c:pt idx="1">
                  <c:v>22.965631046925871</c:v>
                </c:pt>
                <c:pt idx="2">
                  <c:v>13.261132402140159</c:v>
                </c:pt>
                <c:pt idx="3">
                  <c:v>28.434644298122635</c:v>
                </c:pt>
                <c:pt idx="4">
                  <c:v>20.233433179290675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9F-4E68-97A3-B3152BFF0349}"/>
            </c:ext>
          </c:extLst>
        </c:ser>
        <c:ser>
          <c:idx val="1"/>
          <c:order val="1"/>
          <c:tx>
            <c:strRef>
              <c:f>'Pricing by Brand'!$C$19</c:f>
              <c:strCache>
                <c:ptCount val="1"/>
                <c:pt idx="0">
                  <c:v>ASP 2017</c:v>
                </c:pt>
              </c:strCache>
            </c:strRef>
          </c:tx>
          <c:spPr>
            <a:solidFill>
              <a:srgbClr val="07182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'Pricing by Brand'!$A$20:$A$24</c:f>
              <c:strCache>
                <c:ptCount val="5"/>
                <c:pt idx="0">
                  <c:v>Happy</c:v>
                </c:pt>
                <c:pt idx="1">
                  <c:v>Simple</c:v>
                </c:pt>
                <c:pt idx="2">
                  <c:v>Thrifty</c:v>
                </c:pt>
                <c:pt idx="3">
                  <c:v>PlasticPlace</c:v>
                </c:pt>
                <c:pt idx="4">
                  <c:v>MegaDeal</c:v>
                </c:pt>
              </c:strCache>
            </c:strRef>
          </c:cat>
          <c:val>
            <c:numRef>
              <c:f>'Pricing by Brand'!$C$20:$C$24</c:f>
              <c:numCache>
                <c:formatCode>_-[$$-409]* #,##0.00_ ;_-[$$-409]* \-#,##0.00\ ;_-[$$-409]* "-"??_ ;_-@_ </c:formatCode>
                <c:ptCount val="5"/>
                <c:pt idx="0">
                  <c:v>12.97531159504268</c:v>
                </c:pt>
                <c:pt idx="1">
                  <c:v>22.726044728202101</c:v>
                </c:pt>
                <c:pt idx="2">
                  <c:v>13.158467824731817</c:v>
                </c:pt>
                <c:pt idx="3">
                  <c:v>30.765391663615237</c:v>
                </c:pt>
                <c:pt idx="4">
                  <c:v>23.849642752950533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9F-4E68-97A3-B3152BFF03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2051119"/>
        <c:axId val="1762038159"/>
      </c:barChart>
      <c:catAx>
        <c:axId val="1762051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2038159"/>
        <c:crosses val="autoZero"/>
        <c:auto val="1"/>
        <c:lblAlgn val="ctr"/>
        <c:lblOffset val="100"/>
        <c:noMultiLvlLbl val="0"/>
      </c:catAx>
      <c:valAx>
        <c:axId val="1762038159"/>
        <c:scaling>
          <c:orientation val="minMax"/>
        </c:scaling>
        <c:delete val="0"/>
        <c:axPos val="l"/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2051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0.76816</cdr:x>
      <cdr:y>0.13938</cdr:y>
    </cdr:from>
    <cdr:to>
      <cdr:x>0.85904</cdr:x>
      <cdr:y>0.21154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087E06C-9ACA-873B-7030-FE824DC8906F}"/>
            </a:ext>
          </a:extLst>
        </cdr:cNvPr>
        <cdr:cNvSpPr txBox="1"/>
      </cdr:nvSpPr>
      <cdr:spPr>
        <a:xfrm xmlns:a="http://schemas.openxmlformats.org/drawingml/2006/main">
          <a:off x="5813711" y="499993"/>
          <a:ext cx="687818" cy="25884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GB" sz="1200" b="1" kern="1200" dirty="0">
              <a:solidFill>
                <a:srgbClr val="071829"/>
              </a:solidFill>
            </a:rPr>
            <a:t>2017</a:t>
          </a:r>
        </a:p>
      </cdr:txBody>
    </cdr:sp>
  </cdr:relSizeAnchor>
  <cdr:relSizeAnchor xmlns:cdr="http://schemas.openxmlformats.org/drawingml/2006/chartDrawing">
    <cdr:from>
      <cdr:x>0.9392</cdr:x>
      <cdr:y>0.27611</cdr:y>
    </cdr:from>
    <cdr:to>
      <cdr:x>1</cdr:x>
      <cdr:y>0.54972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CE0EFA8-2FF8-ACEC-1868-503C1214BAAB}"/>
            </a:ext>
          </a:extLst>
        </cdr:cNvPr>
        <cdr:cNvSpPr txBox="1"/>
      </cdr:nvSpPr>
      <cdr:spPr>
        <a:xfrm xmlns:a="http://schemas.openxmlformats.org/drawingml/2006/main">
          <a:off x="7162903" y="937646"/>
          <a:ext cx="463697" cy="92914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GB" sz="1200" b="1" kern="1200" dirty="0">
              <a:solidFill>
                <a:srgbClr val="ADBCCC"/>
              </a:solidFill>
            </a:rPr>
            <a:t>2016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8EED9-D437-4DE6-BC7B-E1F39D2D1B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C8A20-D70D-4C33-ADE0-06E2C3F60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82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Sales for 44-gallon bags jumped from ~$1K to ~$85K (up 7,927% YoY), alongside a 4,403% increase for the 23-gallon size.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C8A20-D70D-4C33-ADE0-06E2C3F60BE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75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392E-095A-68BF-F3D8-D26B213FB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D1027-3467-FFB2-5DB6-1E8B298D5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AFF7-E20F-6F0D-6F65-0B338D115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A41DD-C0C7-9B3E-BE61-A83A9EB4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C519-4645-930D-654D-C9E19BAC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250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AD47-EEA3-4CA2-6AE0-EB7BBB3B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393C9-7EF7-1343-2DD0-1A77C7605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A34-C258-9996-22E3-617C779E2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74FC0-4609-0BB7-B79F-17EC64B6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544EB-AB49-BA1D-56FC-0AA91888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22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E3F7-E4A9-8805-4FE4-4C411088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AE907-D478-7E2C-84EE-7AC2E499A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D1D6B-6C82-3E12-AE46-B5B0CBF5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58D1-7349-350B-885E-2A5EBA1E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3F430-9689-61C4-AE27-167B6BAB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6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10C3-1CE4-59F8-BEA2-1CAB7C0F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F264-9575-C208-525A-450D3FDA7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8C881-A5DC-9EA7-E14E-E26A33BBC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D0428-3727-8B80-1422-F36F5581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98719-5632-EF92-278B-4F98FDCE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D8131-C6A7-556D-F039-604C979C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95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D9BC-928C-DF02-5421-D792148D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26E02-B1EA-10DB-FBCE-629BF16B3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5F9F-FD37-8409-E8D7-BB4E0D07E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133A7-A0D1-A034-5AD0-C3050CE48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403558-8E8C-90CD-AC6F-486A5D5B7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FD6CE-2C43-431A-8076-70C07EB1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7A2D92-0CE4-DDD4-2E76-F7752197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66B6B-17C7-E426-E9EA-CC97C522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854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2BD0-6207-E78B-9E7B-EF0DB1C5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11B3-85E9-C333-7C7C-D4237878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63C861-BC1E-117B-B7BB-B3C958F6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0F3EB-1D23-840C-CB7A-86B193C1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83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C2049-7C26-D023-D898-AD32A746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745B1-9D9D-536C-8C1D-3DB56C11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93D1C-588B-5189-A4C2-854FBDAF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28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7180-8E88-DF71-DEED-DD2AC08F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41A9-B66C-6064-A2A2-0295C606E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083C1-7246-C220-E0C1-661490699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F0BB4-4640-030C-DFF9-DFD9182DA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2138C-AD07-0A60-7473-E9470598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16682-6BEF-FE5A-0413-D2C6F6E8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46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23D20-2B97-D849-8899-4F3F4EE92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8E511-A03D-883E-82C0-A96B9096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7C629-9348-4FFC-5001-EECCFF6D0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8CB9A-31BA-39FB-D100-A6674EEC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F727-6DFF-88B7-8073-C95EF07E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913BD-1792-53F6-D327-AB16640F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2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D61D-0EA3-8477-84C5-A35384D4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A41F-3E5F-2428-3850-1CE0FD20B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91A16-534A-EA09-917E-E894AE02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C0546-DA29-9B07-01A2-49672CA4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7BAE9-32F3-CD9D-6038-EB9AA6E6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47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C2EB6-304E-D289-04B7-E00E8412A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24463-842E-260D-DCD5-EFE82FFB4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67EC5-9C0D-4739-3F82-B864F270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CD0C0-A664-11CF-578C-A2840CC6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5FDAB-B60B-2482-C626-C061C80A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257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(Light Mode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C8E407E7-A773-9546-6631-9796A2BA3080}"/>
              </a:ext>
            </a:extLst>
          </p:cNvPr>
          <p:cNvSpPr>
            <a:spLocks noChangeAspect="1"/>
          </p:cNvSpPr>
          <p:nvPr userDrawn="1"/>
        </p:nvSpPr>
        <p:spPr>
          <a:xfrm>
            <a:off x="525124" y="1948725"/>
            <a:ext cx="214902" cy="214902"/>
          </a:xfrm>
          <a:prstGeom prst="ellipse">
            <a:avLst/>
          </a:prstGeom>
          <a:solidFill>
            <a:srgbClr val="03142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BD7DB28-9506-D07B-EF59-6B11C8612383}"/>
              </a:ext>
            </a:extLst>
          </p:cNvPr>
          <p:cNvSpPr>
            <a:spLocks noChangeAspect="1"/>
          </p:cNvSpPr>
          <p:nvPr userDrawn="1"/>
        </p:nvSpPr>
        <p:spPr>
          <a:xfrm>
            <a:off x="582586" y="2005619"/>
            <a:ext cx="101439" cy="101439"/>
          </a:xfrm>
          <a:prstGeom prst="ellipse">
            <a:avLst/>
          </a:prstGeom>
          <a:solidFill>
            <a:srgbClr val="031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3" name="Slide Number Placeholder 10">
            <a:extLst>
              <a:ext uri="{FF2B5EF4-FFF2-40B4-BE49-F238E27FC236}">
                <a16:creationId xmlns:a16="http://schemas.microsoft.com/office/drawing/2014/main" id="{D25CF355-A881-3C48-7A51-B94E37706A2C}"/>
              </a:ext>
            </a:extLst>
          </p:cNvPr>
          <p:cNvSpPr txBox="1">
            <a:spLocks/>
          </p:cNvSpPr>
          <p:nvPr userDrawn="1"/>
        </p:nvSpPr>
        <p:spPr>
          <a:xfrm>
            <a:off x="11050905" y="6259830"/>
            <a:ext cx="6644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rgbClr val="00294B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AD5503-2DCD-AF44-A415-B39C09A0F01A}" type="slidenum">
              <a:rPr lang="en-US" b="0" i="0" smtClean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rPr>
              <a:pPr/>
              <a:t>‹#›</a:t>
            </a:fld>
            <a:endParaRPr lang="en-US" b="0" i="0">
              <a:solidFill>
                <a:srgbClr val="031425"/>
              </a:solidFill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5B41284-BE9F-97EB-8E1A-C1CE98FAF4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088" y="472177"/>
            <a:ext cx="11242232" cy="2760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4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Report Name</a:t>
            </a:r>
            <a:endParaRPr lang="en-US" sz="18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DE66DFF4-AD17-D283-E7D4-898DF2CE14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44" y="804947"/>
            <a:ext cx="11243476" cy="53321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Agenda</a:t>
            </a:r>
            <a:endParaRPr lang="en-US" sz="18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0219270F-79F9-7ECF-0937-1A54F90FF6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782" y="2490624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Top-Line Overview</a:t>
            </a:r>
          </a:p>
        </p:txBody>
      </p:sp>
      <p:sp>
        <p:nvSpPr>
          <p:cNvPr id="30" name="Text Placeholder 33">
            <a:extLst>
              <a:ext uri="{FF2B5EF4-FFF2-40B4-BE49-F238E27FC236}">
                <a16:creationId xmlns:a16="http://schemas.microsoft.com/office/drawing/2014/main" id="{C63CB618-463E-CE77-F1BE-D0D4DE487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782" y="1958103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AD703399-EF52-2748-66FE-2B560FC4C6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8782" y="3023145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Pricing &amp; Promotion Analytics</a:t>
            </a:r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2192B42D-7A14-AF7F-D9BE-5736F9DD6F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8782" y="3556567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Traffic Drivers &amp; Drainers</a:t>
            </a:r>
          </a:p>
        </p:txBody>
      </p:sp>
      <p:sp>
        <p:nvSpPr>
          <p:cNvPr id="33" name="Text Placeholder 33">
            <a:extLst>
              <a:ext uri="{FF2B5EF4-FFF2-40B4-BE49-F238E27FC236}">
                <a16:creationId xmlns:a16="http://schemas.microsoft.com/office/drawing/2014/main" id="{BF23AC86-EECB-9CC9-9F03-3F5054E11B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8782" y="4089989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Look Forward</a:t>
            </a:r>
          </a:p>
        </p:txBody>
      </p:sp>
    </p:spTree>
    <p:extLst>
      <p:ext uri="{BB962C8B-B14F-4D97-AF65-F5344CB8AC3E}">
        <p14:creationId xmlns:p14="http://schemas.microsoft.com/office/powerpoint/2010/main" val="479039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 Cards (Light Mode)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AE84B6C1-7780-F3DB-4676-B496AA1FEEA9}"/>
              </a:ext>
            </a:extLst>
          </p:cNvPr>
          <p:cNvSpPr/>
          <p:nvPr userDrawn="1"/>
        </p:nvSpPr>
        <p:spPr>
          <a:xfrm>
            <a:off x="3373060" y="2027618"/>
            <a:ext cx="2562690" cy="3657600"/>
          </a:xfrm>
          <a:prstGeom prst="roundRect">
            <a:avLst>
              <a:gd name="adj" fmla="val 748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sx="99000" sy="99000" algn="ctr" rotWithShape="0">
              <a:srgbClr val="05284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66AF38E9-D9F3-73BA-4195-F10049FEC23F}"/>
              </a:ext>
            </a:extLst>
          </p:cNvPr>
          <p:cNvSpPr/>
          <p:nvPr userDrawn="1"/>
        </p:nvSpPr>
        <p:spPr>
          <a:xfrm>
            <a:off x="6177997" y="2027618"/>
            <a:ext cx="2562690" cy="3657600"/>
          </a:xfrm>
          <a:prstGeom prst="roundRect">
            <a:avLst>
              <a:gd name="adj" fmla="val 748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sx="99000" sy="99000" algn="ctr" rotWithShape="0">
              <a:srgbClr val="05284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AA28CC21-846A-E29B-127B-3A96464346CB}"/>
              </a:ext>
            </a:extLst>
          </p:cNvPr>
          <p:cNvSpPr/>
          <p:nvPr userDrawn="1"/>
        </p:nvSpPr>
        <p:spPr>
          <a:xfrm>
            <a:off x="8999920" y="2027618"/>
            <a:ext cx="2562690" cy="3657600"/>
          </a:xfrm>
          <a:prstGeom prst="roundRect">
            <a:avLst>
              <a:gd name="adj" fmla="val 748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sx="99000" sy="99000" algn="ctr" rotWithShape="0">
              <a:srgbClr val="05284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B694D652-C91F-6909-0A09-9DEAB2CE30BD}"/>
              </a:ext>
            </a:extLst>
          </p:cNvPr>
          <p:cNvSpPr txBox="1">
            <a:spLocks/>
          </p:cNvSpPr>
          <p:nvPr userDrawn="1"/>
        </p:nvSpPr>
        <p:spPr>
          <a:xfrm>
            <a:off x="11050905" y="6259830"/>
            <a:ext cx="6644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rgbClr val="00294B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AD5503-2DCD-AF44-A415-B39C09A0F01A}" type="slidenum">
              <a:rPr lang="en-US" b="0" i="0" smtClean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rPr>
              <a:pPr/>
              <a:t>‹#›</a:t>
            </a:fld>
            <a:endParaRPr lang="en-US" b="0" i="0">
              <a:solidFill>
                <a:srgbClr val="031425"/>
              </a:solidFill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14" name="Rectangle: Rounded Corners 6">
            <a:extLst>
              <a:ext uri="{FF2B5EF4-FFF2-40B4-BE49-F238E27FC236}">
                <a16:creationId xmlns:a16="http://schemas.microsoft.com/office/drawing/2014/main" id="{97CFDAB5-B7B0-A968-F703-1FD1C90E37A5}"/>
              </a:ext>
            </a:extLst>
          </p:cNvPr>
          <p:cNvSpPr/>
          <p:nvPr userDrawn="1"/>
        </p:nvSpPr>
        <p:spPr>
          <a:xfrm>
            <a:off x="568123" y="2027618"/>
            <a:ext cx="2562690" cy="3657600"/>
          </a:xfrm>
          <a:prstGeom prst="roundRect">
            <a:avLst>
              <a:gd name="adj" fmla="val 748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sx="99000" sy="99000" algn="ctr" rotWithShape="0">
              <a:srgbClr val="05284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  <a:p>
            <a:pPr algn="ctr"/>
            <a:endParaRPr lang="en-US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1B4D9-C5E2-A904-B6E7-C8B1FF509756}"/>
              </a:ext>
            </a:extLst>
          </p:cNvPr>
          <p:cNvSpPr txBox="1"/>
          <p:nvPr userDrawn="1"/>
        </p:nvSpPr>
        <p:spPr>
          <a:xfrm>
            <a:off x="6194544" y="9419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AE9BF0E-B66C-1ADB-5005-53B327AC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088" y="472177"/>
            <a:ext cx="11242232" cy="2760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4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Top-line Overview // Report Name</a:t>
            </a:r>
            <a:endParaRPr lang="en-US" sz="18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561469D-6756-C709-8ED9-4E48A6E204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683" y="2888387"/>
            <a:ext cx="2199603" cy="577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 </a:t>
            </a:r>
            <a:r>
              <a:rPr lang="en-US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amet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endParaRPr lang="en-US" dirty="0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8A03F2A8-064C-551C-4F2C-4CFC17EA86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988" y="3521640"/>
            <a:ext cx="2199603" cy="16870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en-US" b="0" dirty="0"/>
              <a:t>Lorem ipsum dolor sit </a:t>
            </a:r>
            <a:r>
              <a:rPr lang="en-US" b="0" dirty="0" err="1"/>
              <a:t>amet</a:t>
            </a:r>
            <a:r>
              <a:rPr lang="en-US" b="0" dirty="0"/>
              <a:t>,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 magna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aliqua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 Ut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enim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ad minim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veniam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quis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nostrud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exercitation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ullamco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laboris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nisi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aliquip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ea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commodo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  <a:endParaRPr lang="en-US" dirty="0"/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0408F48D-5A86-D5C7-9CE3-A42FFE0B22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49148" y="2888387"/>
            <a:ext cx="2200298" cy="577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</a:t>
            </a:r>
            <a:endParaRPr lang="en-US"/>
          </a:p>
        </p:txBody>
      </p:sp>
      <p:sp>
        <p:nvSpPr>
          <p:cNvPr id="65" name="Text Placeholder 39">
            <a:extLst>
              <a:ext uri="{FF2B5EF4-FFF2-40B4-BE49-F238E27FC236}">
                <a16:creationId xmlns:a16="http://schemas.microsoft.com/office/drawing/2014/main" id="{0EC92E16-0949-B887-39CC-4F037D0324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9148" y="3521640"/>
            <a:ext cx="2199603" cy="16870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en-US" b="0"/>
              <a:t>Lorem ipsum dolor sit </a:t>
            </a:r>
            <a:r>
              <a:rPr lang="en-US" b="0" err="1"/>
              <a:t>amet</a:t>
            </a:r>
            <a:r>
              <a:rPr lang="en-US" b="0"/>
              <a:t>,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 magna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 Ut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enim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ad minim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veniam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quis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nostrud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exercitation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ullamco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laboris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nisi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aliquip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commodo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  <a:endParaRPr lang="en-US"/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80DB886D-CE6A-BFAF-F19C-86AD4B77FE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54003" y="2888387"/>
            <a:ext cx="2199603" cy="577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 </a:t>
            </a:r>
            <a:r>
              <a:rPr lang="en-US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amet</a:t>
            </a:r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endParaRPr lang="en-US"/>
          </a:p>
        </p:txBody>
      </p:sp>
      <p:sp>
        <p:nvSpPr>
          <p:cNvPr id="67" name="Text Placeholder 39">
            <a:extLst>
              <a:ext uri="{FF2B5EF4-FFF2-40B4-BE49-F238E27FC236}">
                <a16:creationId xmlns:a16="http://schemas.microsoft.com/office/drawing/2014/main" id="{C94E0ABB-1623-D4B8-047F-943B0D5D1C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3308" y="3521640"/>
            <a:ext cx="2199603" cy="16870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en-US" b="0"/>
              <a:t>Lorem ipsum dolor sit </a:t>
            </a:r>
            <a:r>
              <a:rPr lang="en-US" b="0" err="1"/>
              <a:t>amet</a:t>
            </a:r>
            <a:r>
              <a:rPr lang="en-US" b="0"/>
              <a:t>,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 magna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 Ut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enim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ad minim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veniam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quis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nostrud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exercitation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ullamco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laboris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nisi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aliquip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commodo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  <a:endParaRPr lang="en-US"/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983C73CA-3591-DB24-C38C-61669A343B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73403" y="2888387"/>
            <a:ext cx="2199603" cy="577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</a:t>
            </a:r>
            <a:endParaRPr lang="en-US"/>
          </a:p>
        </p:txBody>
      </p:sp>
      <p:sp>
        <p:nvSpPr>
          <p:cNvPr id="69" name="Text Placeholder 39">
            <a:extLst>
              <a:ext uri="{FF2B5EF4-FFF2-40B4-BE49-F238E27FC236}">
                <a16:creationId xmlns:a16="http://schemas.microsoft.com/office/drawing/2014/main" id="{66227FEB-8667-BB40-2BB2-40BCE60A55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2708" y="3521640"/>
            <a:ext cx="2199603" cy="16870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en-US" b="0"/>
              <a:t>Lorem ipsum dolor sit </a:t>
            </a:r>
            <a:r>
              <a:rPr lang="en-US" b="0" err="1"/>
              <a:t>amet</a:t>
            </a:r>
            <a:r>
              <a:rPr lang="en-US" b="0"/>
              <a:t>,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 magna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 Ut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enim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ad minim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veniam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quis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nostrud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exercitation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ullamco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laboris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nisi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aliquip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commodo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  <a:endParaRPr lang="en-US"/>
          </a:p>
        </p:txBody>
      </p:sp>
      <p:sp>
        <p:nvSpPr>
          <p:cNvPr id="70" name="Text Placeholder 16">
            <a:extLst>
              <a:ext uri="{FF2B5EF4-FFF2-40B4-BE49-F238E27FC236}">
                <a16:creationId xmlns:a16="http://schemas.microsoft.com/office/drawing/2014/main" id="{964D8497-EAAA-59C9-F4FC-F8B984A017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44" y="804947"/>
            <a:ext cx="11243476" cy="53321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Key Takeaways</a:t>
            </a:r>
            <a:endParaRPr lang="en-US" sz="18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1D19380-2065-A64A-ABCF-5EFE64C27E5C}"/>
              </a:ext>
            </a:extLst>
          </p:cNvPr>
          <p:cNvGrpSpPr/>
          <p:nvPr userDrawn="1"/>
        </p:nvGrpSpPr>
        <p:grpSpPr>
          <a:xfrm>
            <a:off x="860936" y="2322631"/>
            <a:ext cx="410746" cy="410746"/>
            <a:chOff x="836712" y="2281483"/>
            <a:chExt cx="353913" cy="353913"/>
          </a:xfrm>
          <a:solidFill>
            <a:srgbClr val="46A8F6">
              <a:alpha val="9804"/>
            </a:srgbClr>
          </a:solidFill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8584B71-3C26-09A9-9338-683EA0E21793}"/>
                </a:ext>
              </a:extLst>
            </p:cNvPr>
            <p:cNvSpPr/>
            <p:nvPr/>
          </p:nvSpPr>
          <p:spPr>
            <a:xfrm>
              <a:off x="836712" y="2281483"/>
              <a:ext cx="353913" cy="353913"/>
            </a:xfrm>
            <a:prstGeom prst="ellipse">
              <a:avLst/>
            </a:prstGeom>
            <a:solidFill>
              <a:srgbClr val="46A8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1425"/>
                </a:solidFill>
                <a:latin typeface="+mn-lt"/>
              </a:endParaRPr>
            </a:p>
          </p:txBody>
        </p:sp>
        <p:sp>
          <p:nvSpPr>
            <p:cNvPr id="73" name="Rectangle: Rounded Corners 11">
              <a:extLst>
                <a:ext uri="{FF2B5EF4-FFF2-40B4-BE49-F238E27FC236}">
                  <a16:creationId xmlns:a16="http://schemas.microsoft.com/office/drawing/2014/main" id="{DA5EBD26-C369-1D24-5818-DB2797877C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576" y="2343149"/>
              <a:ext cx="232184" cy="232184"/>
            </a:xfrm>
            <a:prstGeom prst="ellipse">
              <a:avLst/>
            </a:prstGeom>
            <a:solidFill>
              <a:srgbClr val="46A8F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Ins="9144" rtlCol="0" anchor="ctr"/>
            <a:lstStyle/>
            <a:p>
              <a:pPr algn="ctr"/>
              <a:r>
                <a:rPr lang="en-US" sz="900" b="1" dirty="0">
                  <a:solidFill>
                    <a:srgbClr val="031425"/>
                  </a:solidFill>
                  <a:latin typeface="+mn-lt"/>
                </a:rPr>
                <a:t>01</a:t>
              </a:r>
              <a:endParaRPr lang="en-US" sz="800" b="1" dirty="0">
                <a:solidFill>
                  <a:srgbClr val="031425"/>
                </a:solidFill>
                <a:latin typeface="+mn-lt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9A180BF-B3E2-4554-A554-1A63933F9A5F}"/>
              </a:ext>
            </a:extLst>
          </p:cNvPr>
          <p:cNvGrpSpPr/>
          <p:nvPr userDrawn="1"/>
        </p:nvGrpSpPr>
        <p:grpSpPr>
          <a:xfrm>
            <a:off x="3653760" y="2322630"/>
            <a:ext cx="410747" cy="410747"/>
            <a:chOff x="836712" y="2281483"/>
            <a:chExt cx="353913" cy="353913"/>
          </a:xfrm>
          <a:solidFill>
            <a:srgbClr val="46A8F6">
              <a:alpha val="9804"/>
            </a:srgbClr>
          </a:solidFill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683E1DC-6D03-270E-C0B4-848882B4661B}"/>
                </a:ext>
              </a:extLst>
            </p:cNvPr>
            <p:cNvSpPr/>
            <p:nvPr/>
          </p:nvSpPr>
          <p:spPr>
            <a:xfrm>
              <a:off x="836712" y="2281483"/>
              <a:ext cx="353913" cy="353913"/>
            </a:xfrm>
            <a:prstGeom prst="ellipse">
              <a:avLst/>
            </a:prstGeom>
            <a:solidFill>
              <a:srgbClr val="46A8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1425"/>
                </a:solidFill>
                <a:latin typeface="+mn-lt"/>
              </a:endParaRPr>
            </a:p>
          </p:txBody>
        </p:sp>
        <p:sp>
          <p:nvSpPr>
            <p:cNvPr id="76" name="Rectangle: Rounded Corners 11">
              <a:extLst>
                <a:ext uri="{FF2B5EF4-FFF2-40B4-BE49-F238E27FC236}">
                  <a16:creationId xmlns:a16="http://schemas.microsoft.com/office/drawing/2014/main" id="{E86A1BF5-92A6-A35A-6F7D-1F463FD7E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576" y="2343149"/>
              <a:ext cx="232184" cy="232184"/>
            </a:xfrm>
            <a:prstGeom prst="ellipse">
              <a:avLst/>
            </a:prstGeom>
            <a:solidFill>
              <a:srgbClr val="46A8F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Ins="9144" rtlCol="0" anchor="ctr"/>
            <a:lstStyle/>
            <a:p>
              <a:pPr algn="ctr"/>
              <a:r>
                <a:rPr lang="en-US" sz="900" b="1" dirty="0">
                  <a:solidFill>
                    <a:srgbClr val="031425"/>
                  </a:solidFill>
                  <a:latin typeface="+mn-lt"/>
                </a:rPr>
                <a:t>02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229CE70-8D69-A312-78FC-44DF0C1B2429}"/>
              </a:ext>
            </a:extLst>
          </p:cNvPr>
          <p:cNvGrpSpPr/>
          <p:nvPr userDrawn="1"/>
        </p:nvGrpSpPr>
        <p:grpSpPr>
          <a:xfrm>
            <a:off x="6456753" y="2322630"/>
            <a:ext cx="410747" cy="410747"/>
            <a:chOff x="836712" y="2281483"/>
            <a:chExt cx="353913" cy="353913"/>
          </a:xfrm>
          <a:solidFill>
            <a:srgbClr val="46A8F6">
              <a:alpha val="9804"/>
            </a:srgbClr>
          </a:solidFill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6E2A196-B7DF-2080-7A29-4715ACDF2A9B}"/>
                </a:ext>
              </a:extLst>
            </p:cNvPr>
            <p:cNvSpPr/>
            <p:nvPr/>
          </p:nvSpPr>
          <p:spPr>
            <a:xfrm>
              <a:off x="836712" y="2281483"/>
              <a:ext cx="353913" cy="353913"/>
            </a:xfrm>
            <a:prstGeom prst="ellipse">
              <a:avLst/>
            </a:prstGeom>
            <a:solidFill>
              <a:srgbClr val="46A8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1425"/>
                </a:solidFill>
                <a:latin typeface="+mn-lt"/>
              </a:endParaRPr>
            </a:p>
          </p:txBody>
        </p:sp>
        <p:sp>
          <p:nvSpPr>
            <p:cNvPr id="79" name="Rectangle: Rounded Corners 11">
              <a:extLst>
                <a:ext uri="{FF2B5EF4-FFF2-40B4-BE49-F238E27FC236}">
                  <a16:creationId xmlns:a16="http://schemas.microsoft.com/office/drawing/2014/main" id="{A56D08BD-0C5B-2EF6-6312-2389274B51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576" y="2343149"/>
              <a:ext cx="232184" cy="232184"/>
            </a:xfrm>
            <a:prstGeom prst="ellipse">
              <a:avLst/>
            </a:prstGeom>
            <a:solidFill>
              <a:srgbClr val="46A8F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Ins="9144" rtlCol="0" anchor="ctr"/>
            <a:lstStyle/>
            <a:p>
              <a:pPr algn="ctr"/>
              <a:r>
                <a:rPr lang="en-US" sz="900" b="1">
                  <a:solidFill>
                    <a:srgbClr val="031425"/>
                  </a:solidFill>
                  <a:latin typeface="+mn-lt"/>
                </a:rPr>
                <a:t>03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6065C3E-E907-3945-EFF9-A332A079D2FE}"/>
              </a:ext>
            </a:extLst>
          </p:cNvPr>
          <p:cNvGrpSpPr/>
          <p:nvPr userDrawn="1"/>
        </p:nvGrpSpPr>
        <p:grpSpPr>
          <a:xfrm>
            <a:off x="9274052" y="2322630"/>
            <a:ext cx="410747" cy="410747"/>
            <a:chOff x="836712" y="2281483"/>
            <a:chExt cx="353913" cy="353913"/>
          </a:xfrm>
          <a:solidFill>
            <a:srgbClr val="46A8F6">
              <a:alpha val="9804"/>
            </a:srgbClr>
          </a:solidFill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2DCD3BD-C29F-32A8-5DBD-E3F99754158B}"/>
                </a:ext>
              </a:extLst>
            </p:cNvPr>
            <p:cNvSpPr/>
            <p:nvPr/>
          </p:nvSpPr>
          <p:spPr>
            <a:xfrm>
              <a:off x="836712" y="2281483"/>
              <a:ext cx="353913" cy="353913"/>
            </a:xfrm>
            <a:prstGeom prst="ellipse">
              <a:avLst/>
            </a:prstGeom>
            <a:solidFill>
              <a:srgbClr val="46A8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1425"/>
                </a:solidFill>
                <a:latin typeface="+mn-lt"/>
              </a:endParaRPr>
            </a:p>
          </p:txBody>
        </p:sp>
        <p:sp>
          <p:nvSpPr>
            <p:cNvPr id="82" name="Rectangle: Rounded Corners 11">
              <a:extLst>
                <a:ext uri="{FF2B5EF4-FFF2-40B4-BE49-F238E27FC236}">
                  <a16:creationId xmlns:a16="http://schemas.microsoft.com/office/drawing/2014/main" id="{8CCEE644-CA25-76BF-BB4C-EC4DED2130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576" y="2345861"/>
              <a:ext cx="232184" cy="232184"/>
            </a:xfrm>
            <a:prstGeom prst="ellipse">
              <a:avLst/>
            </a:prstGeom>
            <a:solidFill>
              <a:srgbClr val="46A8F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Ins="9144" rtlCol="0" anchor="ctr"/>
            <a:lstStyle/>
            <a:p>
              <a:pPr algn="ctr"/>
              <a:r>
                <a:rPr lang="en-US" sz="900" b="1">
                  <a:solidFill>
                    <a:srgbClr val="031425"/>
                  </a:solidFill>
                  <a:latin typeface="+mn-lt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5755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EEF543B-9320-F79D-C279-341DA66CF0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9032" y="2233516"/>
            <a:ext cx="2946287" cy="246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590CE327-E5C1-43D2-10AB-BFB18E9C9D64}"/>
              </a:ext>
            </a:extLst>
          </p:cNvPr>
          <p:cNvSpPr txBox="1">
            <a:spLocks/>
          </p:cNvSpPr>
          <p:nvPr userDrawn="1"/>
        </p:nvSpPr>
        <p:spPr>
          <a:xfrm>
            <a:off x="11050905" y="6259830"/>
            <a:ext cx="6644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rgbClr val="00294B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AD5503-2DCD-AF44-A415-B39C09A0F01A}" type="slidenum">
              <a:rPr lang="en-US" b="0" i="0" smtClean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rPr>
              <a:pPr/>
              <a:t>‹#›</a:t>
            </a:fld>
            <a:endParaRPr lang="en-US" b="0" i="0" dirty="0">
              <a:solidFill>
                <a:srgbClr val="031425"/>
              </a:solidFill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13" name="Picture Placeholder 26">
            <a:extLst>
              <a:ext uri="{FF2B5EF4-FFF2-40B4-BE49-F238E27FC236}">
                <a16:creationId xmlns:a16="http://schemas.microsoft.com/office/drawing/2014/main" id="{55AF5FE2-064A-91A9-5DEE-D1F4CA7D9E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4374" y="2992247"/>
            <a:ext cx="7863840" cy="29260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052849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r>
              <a:rPr lang="en-US" dirty="0"/>
              <a:t>Insert Graph .</a:t>
            </a:r>
            <a:r>
              <a:rPr lang="en-US" dirty="0" err="1"/>
              <a:t>png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E17FDC1-187B-4A6A-5677-E37330CCCD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845" y="2231349"/>
            <a:ext cx="4072996" cy="3272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 </a:t>
            </a:r>
            <a:r>
              <a:rPr lang="en-US" sz="18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amet</a:t>
            </a:r>
            <a:endParaRPr lang="en-US" sz="18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CD40418-A00B-B0D0-EFF2-09D6A9919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844" y="2558624"/>
            <a:ext cx="4072995" cy="26922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Amazon US // L52 Weeks</a:t>
            </a:r>
            <a:endParaRPr lang="en-US" sz="18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F7540EE9-34B5-7778-2EB1-A1246648AC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088" y="472177"/>
            <a:ext cx="11242232" cy="2760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4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Top-line Overview // Report Name</a:t>
            </a:r>
            <a:endParaRPr lang="en-US" sz="18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88A9E512-1A6B-9E4E-B4DB-B616A4BDD3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44" y="804947"/>
            <a:ext cx="11243476" cy="123900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amet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dolore.</a:t>
            </a:r>
            <a:endParaRPr lang="en-US" sz="11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854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46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DC199-6823-E2F8-45BE-EF84F43B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CA6A2-CDFC-0035-015E-98D3BA669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B978B-2484-8ABA-B213-DFAD36EC9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2C1E3-4019-DF42-8435-D2D8A367A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838A4-F2FE-3543-0032-BC728949F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3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6FD842D0-8D75-A83F-D8BF-02E8EAA7F6B0}"/>
              </a:ext>
            </a:extLst>
          </p:cNvPr>
          <p:cNvSpPr txBox="1">
            <a:spLocks/>
          </p:cNvSpPr>
          <p:nvPr/>
        </p:nvSpPr>
        <p:spPr>
          <a:xfrm>
            <a:off x="465627" y="2934999"/>
            <a:ext cx="7981188" cy="13811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b="1" dirty="0">
                <a:solidFill>
                  <a:schemeClr val="bg1"/>
                </a:solidFill>
                <a:latin typeface="Roboto"/>
              </a:rPr>
              <a:t>Trash Bag Category Overview </a:t>
            </a:r>
            <a:r>
              <a:rPr lang="en-GB" b="1" dirty="0">
                <a:solidFill>
                  <a:schemeClr val="bg1"/>
                </a:solidFill>
                <a:latin typeface="Roboto"/>
              </a:rPr>
              <a:t>Amazon US</a:t>
            </a:r>
            <a:endParaRPr lang="en-GB" sz="4000" b="1" dirty="0">
              <a:solidFill>
                <a:schemeClr val="bg1"/>
              </a:solidFill>
              <a:latin typeface="Roboto"/>
            </a:endParaRP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1DEF91-71FB-EF04-5F54-4946EF927A77}"/>
              </a:ext>
            </a:extLst>
          </p:cNvPr>
          <p:cNvSpPr txBox="1">
            <a:spLocks/>
          </p:cNvSpPr>
          <p:nvPr/>
        </p:nvSpPr>
        <p:spPr>
          <a:xfrm>
            <a:off x="465627" y="4726821"/>
            <a:ext cx="3584480" cy="2421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>
                <a:solidFill>
                  <a:schemeClr val="bg1"/>
                </a:solidFill>
                <a:latin typeface="Roboto"/>
              </a:rPr>
              <a:t>March  9, 2026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DF39B652-C95E-BF5E-D26F-3C2D19977913}"/>
              </a:ext>
            </a:extLst>
          </p:cNvPr>
          <p:cNvSpPr txBox="1">
            <a:spLocks/>
          </p:cNvSpPr>
          <p:nvPr/>
        </p:nvSpPr>
        <p:spPr>
          <a:xfrm>
            <a:off x="465627" y="4484687"/>
            <a:ext cx="3584480" cy="2421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>
                <a:solidFill>
                  <a:schemeClr val="bg1"/>
                </a:solidFill>
                <a:latin typeface="Roboto"/>
              </a:rPr>
              <a:t>Miroslava Chrienova</a:t>
            </a:r>
          </a:p>
        </p:txBody>
      </p:sp>
    </p:spTree>
    <p:extLst>
      <p:ext uri="{BB962C8B-B14F-4D97-AF65-F5344CB8AC3E}">
        <p14:creationId xmlns:p14="http://schemas.microsoft.com/office/powerpoint/2010/main" val="4011728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04E6857-A74E-BB67-0A82-53AC1E302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GB" sz="1400" b="1">
                <a:latin typeface="Roboto"/>
              </a:rPr>
              <a:t>Trash Bag Category Overview</a:t>
            </a:r>
            <a:endParaRPr lang="en-GB" sz="1400" b="1" dirty="0">
              <a:latin typeface="Roboto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06FDEE0-17E7-AE72-A801-585EC1455E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>
                <a:latin typeface="+mn-lt"/>
              </a:rPr>
              <a:t>Top-Line Overview</a:t>
            </a:r>
            <a:endParaRPr lang="en-US" dirty="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8119223-0DD4-1250-2D17-FA4C682ED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Roboto Black" panose="020B0604020202020204" charset="0"/>
              </a:rPr>
              <a:t>Agenda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Roboto Black" panose="020B060402020202020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4D3D9D-8AEC-CB5B-2AE4-36D8B6719C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Pricing Analysis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067AAFC-7F9E-EBAB-8EEA-B6C186B56D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>
                <a:latin typeface="+mn-lt"/>
              </a:rPr>
              <a:t>Key Takeaways</a:t>
            </a:r>
            <a:endParaRPr lang="en-US" dirty="0">
              <a:latin typeface="+mn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25F229-8747-D546-BE95-E25E7DBDEF01}"/>
              </a:ext>
            </a:extLst>
          </p:cNvPr>
          <p:cNvSpPr>
            <a:spLocks noChangeAspect="1"/>
          </p:cNvSpPr>
          <p:nvPr/>
        </p:nvSpPr>
        <p:spPr>
          <a:xfrm>
            <a:off x="525126" y="2484244"/>
            <a:ext cx="214902" cy="214902"/>
          </a:xfrm>
          <a:prstGeom prst="ellipse">
            <a:avLst/>
          </a:prstGeom>
          <a:solidFill>
            <a:srgbClr val="03142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58E1A6-8A2A-4B70-A5E8-1D5A624DACE8}"/>
              </a:ext>
            </a:extLst>
          </p:cNvPr>
          <p:cNvSpPr>
            <a:spLocks noChangeAspect="1"/>
          </p:cNvSpPr>
          <p:nvPr/>
        </p:nvSpPr>
        <p:spPr>
          <a:xfrm>
            <a:off x="582588" y="2541138"/>
            <a:ext cx="101439" cy="101439"/>
          </a:xfrm>
          <a:prstGeom prst="ellipse">
            <a:avLst/>
          </a:prstGeom>
          <a:solidFill>
            <a:srgbClr val="031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2977BD-FEAA-C55A-8996-AFF04E24D7AB}"/>
              </a:ext>
            </a:extLst>
          </p:cNvPr>
          <p:cNvSpPr>
            <a:spLocks noChangeAspect="1"/>
          </p:cNvSpPr>
          <p:nvPr/>
        </p:nvSpPr>
        <p:spPr>
          <a:xfrm>
            <a:off x="526641" y="3017549"/>
            <a:ext cx="214902" cy="214902"/>
          </a:xfrm>
          <a:prstGeom prst="ellipse">
            <a:avLst/>
          </a:prstGeom>
          <a:solidFill>
            <a:srgbClr val="03142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7F8F2D-577A-BF80-8E00-ED4A10C7A743}"/>
              </a:ext>
            </a:extLst>
          </p:cNvPr>
          <p:cNvSpPr>
            <a:spLocks noChangeAspect="1"/>
          </p:cNvSpPr>
          <p:nvPr/>
        </p:nvSpPr>
        <p:spPr>
          <a:xfrm>
            <a:off x="584103" y="3074443"/>
            <a:ext cx="101439" cy="101439"/>
          </a:xfrm>
          <a:prstGeom prst="ellipse">
            <a:avLst/>
          </a:prstGeom>
          <a:solidFill>
            <a:srgbClr val="031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1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48FDE11-C776-0CAA-22DA-8CF02F887A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sz="1400" b="1">
                <a:latin typeface="Roboto"/>
              </a:rPr>
              <a:t>Market Share Overview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EB6F5C2-9ED4-AACB-38F7-B5E17302CE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 b="1" dirty="0">
                <a:latin typeface="Roboto"/>
              </a:rPr>
              <a:t>Significant year-over-year </a:t>
            </a:r>
            <a:r>
              <a:rPr lang="en-GB" dirty="0">
                <a:latin typeface="Roboto"/>
              </a:rPr>
              <a:t>g</a:t>
            </a:r>
            <a:r>
              <a:rPr lang="en-GB" sz="1400" b="1" dirty="0">
                <a:latin typeface="Roboto"/>
              </a:rPr>
              <a:t>rowth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B695C59-66A4-AB22-F94C-4F53620C16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4988" y="3521640"/>
            <a:ext cx="2199603" cy="1993113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Clr>
                <a:srgbClr val="46A8F6"/>
              </a:buClr>
              <a:defRPr/>
            </a:pPr>
            <a:r>
              <a:rPr lang="en-GB" b="0" dirty="0">
                <a:latin typeface="Roboto"/>
              </a:rPr>
              <a:t>Weekly sales performance has shifted upward by roughly 54% compared to last year.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Clr>
                <a:srgbClr val="46A8F6"/>
              </a:buClr>
              <a:defRPr/>
            </a:pPr>
            <a:r>
              <a:rPr lang="en-GB" b="0" dirty="0">
                <a:latin typeface="Roboto"/>
              </a:rPr>
              <a:t>Web remains the top channel customers use despite mobile usage doubled year-over-year.</a:t>
            </a:r>
            <a:endParaRPr b="0" dirty="0">
              <a:latin typeface="Roboto"/>
            </a:endParaRP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3521422-0A8D-9820-D563-3BEE515C59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1400" b="1" dirty="0">
                <a:latin typeface="Roboto"/>
              </a:rPr>
              <a:t>The Prime Day peak is the annual high point</a:t>
            </a:r>
            <a:endParaRPr lang="en-US" sz="1100" b="1" dirty="0">
              <a:latin typeface="+mn-lt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DBADD3D-0B98-B3D6-8978-FE2E813526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9148" y="3521640"/>
            <a:ext cx="2199603" cy="1872611"/>
          </a:xfrm>
        </p:spPr>
        <p:txBody>
          <a:bodyPr>
            <a:normAutofit/>
          </a:bodyPr>
          <a:lstStyle/>
          <a:p>
            <a:pPr>
              <a:buClr>
                <a:srgbClr val="46A8F6"/>
              </a:buClr>
              <a:defRPr/>
            </a:pPr>
            <a:r>
              <a:rPr lang="en-GB" sz="1100" b="0" dirty="0">
                <a:latin typeface="Roboto"/>
              </a:rPr>
              <a:t>Current Year’s Prime Day peak  exceeded the previous year’s performance during the same period, suggesting more effective promotions or higher customer traffic.</a:t>
            </a:r>
          </a:p>
          <a:p>
            <a:pPr>
              <a:buClr>
                <a:srgbClr val="46A8F6"/>
              </a:buClr>
              <a:defRPr/>
            </a:pPr>
            <a:r>
              <a:rPr lang="en-GB" dirty="0">
                <a:latin typeface="Roboto"/>
              </a:rPr>
              <a:t>Key shopping events appear to be driving spikes.</a:t>
            </a:r>
            <a:endParaRPr sz="1100" b="0" dirty="0">
              <a:latin typeface="Roboto"/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E1A6A74-3AF8-CF71-6AAB-C678462F00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46715" y="2888387"/>
            <a:ext cx="2199602" cy="5778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>
                <a:latin typeface="Roboto"/>
              </a:rPr>
              <a:t>ASP begins recovery after decline</a:t>
            </a:r>
            <a:endParaRPr lang="en-US" dirty="0">
              <a:latin typeface="Roboto"/>
            </a:endParaRP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6D220E7-1D79-8FF7-3977-52695FFB59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46713" y="3589335"/>
            <a:ext cx="2091847" cy="1993113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buClr>
                <a:srgbClr val="46A8F6"/>
              </a:buClr>
            </a:pPr>
            <a:r>
              <a:rPr lang="en-GB" sz="1200" dirty="0">
                <a:latin typeface="Roboto"/>
              </a:rPr>
              <a:t>Average selling price fell 4.2% year-over-year and in H1 2017 struggled to reach 2016 levels. Since week 40, prices started recovering and finally outperform previous year levels.</a:t>
            </a:r>
          </a:p>
          <a:p>
            <a:pPr>
              <a:buClr>
                <a:srgbClr val="46A8F6"/>
              </a:buClr>
            </a:pPr>
            <a:r>
              <a:rPr lang="en-GB" dirty="0">
                <a:latin typeface="Roboto"/>
              </a:rPr>
              <a:t>
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79F0FD6-E729-8FCA-CC32-2FEA90B449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53308" y="2888387"/>
            <a:ext cx="2199603" cy="5778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Roboto"/>
              </a:rPr>
              <a:t>Big Three dominates the market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AA01EE38-EAAE-8616-8A48-8A31CC788F3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43249" y="3516048"/>
            <a:ext cx="2199603" cy="2139689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Clr>
                <a:srgbClr val="46A8F6"/>
              </a:buClr>
              <a:defRPr/>
            </a:pPr>
            <a:r>
              <a:rPr lang="en-GB" dirty="0">
                <a:latin typeface="Roboto"/>
              </a:rPr>
              <a:t>Market share remains highly concentrated at the top, with Happy, Simple, and Thrifty controlling a combined 77.2% of the total market. 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Clr>
                <a:srgbClr val="46A8F6"/>
              </a:buClr>
              <a:defRPr/>
            </a:pPr>
            <a:r>
              <a:rPr lang="en-GB" dirty="0">
                <a:latin typeface="Roboto"/>
              </a:rPr>
              <a:t>While Thrifty emerged as the top gainer (+3.7% share increase), Happy faced the most significant decline</a:t>
            </a:r>
            <a:r>
              <a:rPr b="0" dirty="0">
                <a:latin typeface="Roboto"/>
              </a:rPr>
              <a:t>
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203E553-EED6-2A95-82A4-E4DC1A6F2B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Roboto Black" panose="020B060402020202020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210798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2DE2-10BA-B784-71B3-1D6E8CE44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61E0A802-FB27-910D-87A2-19190762E2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403166"/>
              </p:ext>
            </p:extLst>
          </p:nvPr>
        </p:nvGraphicFramePr>
        <p:xfrm>
          <a:off x="398038" y="2994072"/>
          <a:ext cx="7968722" cy="3384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710C22-9F02-E6D0-A043-9B2233C4FB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69032" y="1908728"/>
            <a:ext cx="2946287" cy="2462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F37F3-B101-4F5A-5F9B-36AB46963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Trash Bags </a:t>
            </a:r>
            <a:r>
              <a:rPr lang="en-US" dirty="0">
                <a:latin typeface="+mn-lt"/>
              </a:rPr>
              <a:t>Retail Sales</a:t>
            </a:r>
            <a:endParaRPr lang="en-US" b="1" dirty="0">
              <a:latin typeface="+mn-lt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4C4F3-B4A6-3DF4-F4F1-5D5AAF87D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200" b="0" dirty="0">
                <a:latin typeface="Roboto"/>
              </a:rPr>
              <a:t>Amazon </a:t>
            </a:r>
            <a:r>
              <a:rPr lang="en-GB" sz="1200" b="0" dirty="0">
                <a:latin typeface="Roboto"/>
              </a:rPr>
              <a:t>US</a:t>
            </a:r>
            <a:r>
              <a:rPr sz="1200" b="0" dirty="0">
                <a:latin typeface="Roboto"/>
              </a:rPr>
              <a:t> // </a:t>
            </a:r>
            <a:r>
              <a:rPr lang="en-GB" dirty="0">
                <a:latin typeface="Roboto"/>
              </a:rPr>
              <a:t>Week 1-41, 2017 vs Year 2016</a:t>
            </a:r>
            <a:endParaRPr lang="en-US" sz="1200" dirty="0"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E278C1-3053-B337-7172-2E03A3265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844" y="804946"/>
            <a:ext cx="11243476" cy="135385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sz="3200" b="1" dirty="0">
                <a:latin typeface="Roboto"/>
              </a:rPr>
              <a:t>The Trash Bag category </a:t>
            </a:r>
            <a:r>
              <a:rPr sz="3200" b="1" dirty="0">
                <a:latin typeface="Roboto"/>
              </a:rPr>
              <a:t>earned </a:t>
            </a:r>
            <a:r>
              <a:rPr lang="en-GB">
                <a:latin typeface="Roboto"/>
              </a:rPr>
              <a:t>$</a:t>
            </a:r>
            <a:r>
              <a:rPr lang="en-GB" sz="3200" b="1">
                <a:latin typeface="Roboto"/>
              </a:rPr>
              <a:t>74.5M</a:t>
            </a:r>
            <a:r>
              <a:rPr sz="3200" b="1" dirty="0">
                <a:latin typeface="Roboto"/>
              </a:rPr>
              <a:t> (+</a:t>
            </a:r>
            <a:r>
              <a:rPr lang="en-GB" sz="3200" b="1" dirty="0">
                <a:latin typeface="Roboto"/>
              </a:rPr>
              <a:t>53.4</a:t>
            </a:r>
            <a:r>
              <a:rPr sz="3200" b="1" dirty="0">
                <a:latin typeface="Roboto"/>
              </a:rPr>
              <a:t>%)</a:t>
            </a:r>
            <a:r>
              <a:rPr lang="en-GB" sz="3200" b="1" dirty="0">
                <a:latin typeface="Roboto"/>
              </a:rPr>
              <a:t> and consistently outperform previous year.</a:t>
            </a:r>
            <a:endParaRPr sz="3200" b="1" dirty="0">
              <a:highlight>
                <a:srgbClr val="FFFF00"/>
              </a:highlight>
              <a:latin typeface="Roboto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92FB6-BB46-6B5A-6418-0DCBBA255D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Top-line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22481-F8DF-EF3D-5684-21A3D04FCFCD}"/>
              </a:ext>
            </a:extLst>
          </p:cNvPr>
          <p:cNvSpPr txBox="1"/>
          <p:nvPr/>
        </p:nvSpPr>
        <p:spPr>
          <a:xfrm>
            <a:off x="8516768" y="2154950"/>
            <a:ext cx="3277193" cy="517064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S</a:t>
            </a:r>
            <a:r>
              <a:rPr dirty="0"/>
              <a:t>ales</a:t>
            </a:r>
            <a:r>
              <a:rPr lang="en-GB" dirty="0"/>
              <a:t> in Trash Bags category</a:t>
            </a:r>
            <a:r>
              <a:rPr dirty="0"/>
              <a:t> increased from £</a:t>
            </a:r>
            <a:r>
              <a:rPr lang="en-GB" dirty="0"/>
              <a:t>48.6M</a:t>
            </a:r>
            <a:r>
              <a:rPr dirty="0"/>
              <a:t> to £</a:t>
            </a:r>
            <a:r>
              <a:rPr lang="en-GB" dirty="0"/>
              <a:t>74.5M</a:t>
            </a:r>
            <a:r>
              <a:rPr dirty="0"/>
              <a:t> between periods, representing a </a:t>
            </a:r>
            <a:r>
              <a:rPr lang="en-GB" dirty="0"/>
              <a:t>53.5</a:t>
            </a:r>
            <a:r>
              <a:rPr dirty="0"/>
              <a:t>% growth</a:t>
            </a:r>
            <a:r>
              <a:rPr lang="en-GB" dirty="0"/>
              <a:t> year over year.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Prime Day </a:t>
            </a:r>
            <a:r>
              <a:rPr dirty="0"/>
              <a:t>week in 20</a:t>
            </a:r>
            <a:r>
              <a:rPr lang="en-GB" dirty="0"/>
              <a:t>17</a:t>
            </a:r>
            <a:r>
              <a:rPr dirty="0"/>
              <a:t> (W</a:t>
            </a:r>
            <a:r>
              <a:rPr lang="en-GB" dirty="0"/>
              <a:t>2</a:t>
            </a:r>
            <a:r>
              <a:rPr dirty="0"/>
              <a:t>8) achieved the highest weekly sales of £</a:t>
            </a:r>
            <a:r>
              <a:rPr lang="en-GB" dirty="0"/>
              <a:t>2.5</a:t>
            </a:r>
            <a:r>
              <a:rPr dirty="0"/>
              <a:t>M, surpassing the previous year’s </a:t>
            </a:r>
            <a:r>
              <a:rPr lang="en-GB" dirty="0"/>
              <a:t>Prime Day </a:t>
            </a:r>
            <a:r>
              <a:rPr dirty="0"/>
              <a:t>week by </a:t>
            </a:r>
            <a:r>
              <a:rPr lang="en-GB" dirty="0"/>
              <a:t>40</a:t>
            </a:r>
            <a:r>
              <a:rPr dirty="0"/>
              <a:t>.</a:t>
            </a:r>
            <a:r>
              <a:rPr lang="en-GB" dirty="0"/>
              <a:t>3</a:t>
            </a:r>
            <a:r>
              <a:rPr dirty="0"/>
              <a:t>%.</a:t>
            </a:r>
            <a:r>
              <a:rPr lang="en-GB" dirty="0"/>
              <a:t> Trash bag sales were influenced by both the preparation (W36) and cleanup phases of Hurricane Irma.</a:t>
            </a:r>
            <a:br>
              <a:rPr dirty="0">
                <a:highlight>
                  <a:srgbClr val="FFFF00"/>
                </a:highlight>
              </a:rPr>
            </a:b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dirty="0"/>
              <a:t>Key shopping events in </a:t>
            </a:r>
            <a:r>
              <a:rPr lang="en-GB" dirty="0"/>
              <a:t>2016</a:t>
            </a:r>
            <a:r>
              <a:rPr dirty="0"/>
              <a:t> (Prime Days, Black Friday) generated </a:t>
            </a:r>
            <a:r>
              <a:rPr lang="en-GB" dirty="0"/>
              <a:t>$3.4M</a:t>
            </a:r>
            <a:r>
              <a:rPr dirty="0"/>
              <a:t> in sales, accounting for </a:t>
            </a:r>
            <a:r>
              <a:rPr lang="en-GB" dirty="0"/>
              <a:t>5.3</a:t>
            </a:r>
            <a:r>
              <a:rPr dirty="0"/>
              <a:t>% of the total </a:t>
            </a:r>
            <a:r>
              <a:rPr lang="en-GB" dirty="0"/>
              <a:t>period </a:t>
            </a:r>
            <a:r>
              <a:rPr dirty="0"/>
              <a:t>revenue</a:t>
            </a:r>
            <a:r>
              <a:rPr lang="en-GB" dirty="0"/>
              <a:t>. 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lang="en-GB" dirty="0"/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sz="1100" dirty="0"/>
              <a:t>Sales typically experience a dip during post-holiday periods, such as the weeks following Easter (W12 2016, W15 2017) and Christmas.</a:t>
            </a:r>
            <a:endParaRPr lang="en-GB" dirty="0"/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endParaRPr lang="en-GB" dirty="0"/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br>
              <a:rPr dirty="0">
                <a:highlight>
                  <a:srgbClr val="FFFF00"/>
                </a:highlight>
              </a:rPr>
            </a:br>
            <a:endParaRPr dirty="0"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CD5CD-29FF-FD04-8485-7148741A9C91}"/>
              </a:ext>
            </a:extLst>
          </p:cNvPr>
          <p:cNvSpPr txBox="1"/>
          <p:nvPr/>
        </p:nvSpPr>
        <p:spPr>
          <a:xfrm>
            <a:off x="7965724" y="4318637"/>
            <a:ext cx="4924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solidFill>
                  <a:srgbClr val="ADBCCC"/>
                </a:solidFill>
                <a:latin typeface="Roboto"/>
              </a:rPr>
              <a:t>2016</a:t>
            </a:r>
            <a:endParaRPr sz="1050" b="1" dirty="0">
              <a:solidFill>
                <a:srgbClr val="ADBCCC"/>
              </a:solidFill>
              <a:latin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19AF0-0006-F0AD-1868-002B656D1969}"/>
              </a:ext>
            </a:extLst>
          </p:cNvPr>
          <p:cNvSpPr txBox="1"/>
          <p:nvPr/>
        </p:nvSpPr>
        <p:spPr>
          <a:xfrm>
            <a:off x="6705371" y="4004206"/>
            <a:ext cx="4924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latin typeface="Roboto"/>
              </a:rPr>
              <a:t>2017</a:t>
            </a:r>
            <a:endParaRPr sz="1050" b="1" dirty="0">
              <a:latin typeface="Roboto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DF437300-950D-2F50-8CD1-C82B0D746040}"/>
              </a:ext>
            </a:extLst>
          </p:cNvPr>
          <p:cNvSpPr/>
          <p:nvPr/>
        </p:nvSpPr>
        <p:spPr>
          <a:xfrm rot="15301630">
            <a:off x="5839834" y="3463053"/>
            <a:ext cx="502164" cy="471419"/>
          </a:xfrm>
          <a:prstGeom prst="arc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9A45308-2794-2F9A-811C-2C3546F093F4}"/>
              </a:ext>
            </a:extLst>
          </p:cNvPr>
          <p:cNvSpPr/>
          <p:nvPr/>
        </p:nvSpPr>
        <p:spPr>
          <a:xfrm rot="5400000">
            <a:off x="7182441" y="4336844"/>
            <a:ext cx="502164" cy="471419"/>
          </a:xfrm>
          <a:prstGeom prst="arc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C0F419B8-9444-2142-6962-D84AFCC61E29}"/>
              </a:ext>
            </a:extLst>
          </p:cNvPr>
          <p:cNvSpPr/>
          <p:nvPr/>
        </p:nvSpPr>
        <p:spPr>
          <a:xfrm>
            <a:off x="774240" y="6500884"/>
            <a:ext cx="4619423" cy="284967"/>
          </a:xfrm>
          <a:prstGeom prst="roundRect">
            <a:avLst/>
          </a:prstGeom>
          <a:solidFill>
            <a:srgbClr val="E8E8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rgbClr val="031425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Note: </a:t>
            </a:r>
            <a:r>
              <a:rPr lang="en-US" sz="800" dirty="0">
                <a:solidFill>
                  <a:srgbClr val="031425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Data smoothed to reduce noise and highlight key pricing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8AF64-F1B7-D426-0E1E-EFA047CA4C6C}"/>
              </a:ext>
            </a:extLst>
          </p:cNvPr>
          <p:cNvSpPr txBox="1"/>
          <p:nvPr/>
        </p:nvSpPr>
        <p:spPr>
          <a:xfrm>
            <a:off x="3918616" y="3080427"/>
            <a:ext cx="805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A6A6A6"/>
                </a:solidFill>
              </a:rPr>
              <a:t>Prime 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5BA669-00A6-3D71-B9E1-DBBE9A756BE2}"/>
              </a:ext>
            </a:extLst>
          </p:cNvPr>
          <p:cNvSpPr txBox="1"/>
          <p:nvPr/>
        </p:nvSpPr>
        <p:spPr>
          <a:xfrm>
            <a:off x="6851178" y="4858263"/>
            <a:ext cx="936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A6A6A6"/>
                </a:solidFill>
              </a:rPr>
              <a:t>Black Friday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7E440-0FD0-9D52-F477-80E62B1B4600}"/>
              </a:ext>
            </a:extLst>
          </p:cNvPr>
          <p:cNvSpPr txBox="1"/>
          <p:nvPr/>
        </p:nvSpPr>
        <p:spPr>
          <a:xfrm>
            <a:off x="6055983" y="3244334"/>
            <a:ext cx="80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A6A6A6"/>
                </a:solidFill>
              </a:rPr>
              <a:t>Hurricane Irma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FCDFDB2F-2AFD-F9E3-C1E0-F0A640B9C8AB}"/>
              </a:ext>
            </a:extLst>
          </p:cNvPr>
          <p:cNvSpPr/>
          <p:nvPr/>
        </p:nvSpPr>
        <p:spPr>
          <a:xfrm>
            <a:off x="4350431" y="3233681"/>
            <a:ext cx="519890" cy="609600"/>
          </a:xfrm>
          <a:prstGeom prst="arc">
            <a:avLst/>
          </a:prstGeom>
          <a:ln>
            <a:solidFill>
              <a:srgbClr val="A6A6A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299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0A8CA-8D20-5853-611A-8729ACE3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ACCC0A7D-76B2-7BAB-E95C-998989C74F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1635256"/>
              </p:ext>
            </p:extLst>
          </p:nvPr>
        </p:nvGraphicFramePr>
        <p:xfrm>
          <a:off x="3726647" y="3853717"/>
          <a:ext cx="3855435" cy="2200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C9DCBD-D0B9-B24A-907A-3C7382686E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69033" y="2271875"/>
            <a:ext cx="2946287" cy="2462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917F2-D95F-9064-7184-55244C5376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Retail Sales By Device</a:t>
            </a:r>
            <a:endParaRPr lang="en-US" b="1" dirty="0">
              <a:latin typeface="+mn-lt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F437A-3652-64AD-6DEE-9C7C31993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sz="1200" b="0" dirty="0">
                <a:latin typeface="Roboto"/>
              </a:rPr>
              <a:t>Amazon </a:t>
            </a:r>
            <a:r>
              <a:rPr lang="en-GB" sz="1200" b="0" dirty="0">
                <a:latin typeface="Roboto"/>
              </a:rPr>
              <a:t>US</a:t>
            </a:r>
            <a:r>
              <a:rPr sz="1200" b="0" dirty="0">
                <a:latin typeface="Roboto"/>
              </a:rPr>
              <a:t> // </a:t>
            </a:r>
            <a:r>
              <a:rPr lang="en-GB" dirty="0">
                <a:latin typeface="Roboto"/>
              </a:rPr>
              <a:t>Week 1-41, 2017 vs Prior (Week 1-41, 2016)</a:t>
            </a:r>
            <a:endParaRPr lang="en-US" sz="1200" dirty="0"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DBC0FF-DEAF-ECDE-98C5-6B41DA6FAB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844" y="804946"/>
            <a:ext cx="11243476" cy="135385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sz="3200" b="1" dirty="0">
                <a:latin typeface="Roboto"/>
              </a:rPr>
              <a:t>Most sales </a:t>
            </a:r>
            <a:r>
              <a:rPr lang="en-GB" dirty="0">
                <a:latin typeface="Roboto"/>
              </a:rPr>
              <a:t>in trash bag category </a:t>
            </a:r>
            <a:r>
              <a:rPr lang="en-GB" sz="3200" b="1" dirty="0">
                <a:latin typeface="Roboto"/>
              </a:rPr>
              <a:t>are driven by web traffic, but mobile sales have doubled year-over-year.</a:t>
            </a:r>
            <a:endParaRPr sz="3200" b="1" dirty="0">
              <a:latin typeface="Roboto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4EEE8-D794-40CF-FC9E-E69E86CD74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Top-line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C0A268-CC91-45BD-74FE-9CE4DCBBBA11}"/>
              </a:ext>
            </a:extLst>
          </p:cNvPr>
          <p:cNvSpPr txBox="1"/>
          <p:nvPr/>
        </p:nvSpPr>
        <p:spPr>
          <a:xfrm>
            <a:off x="8529321" y="2693234"/>
            <a:ext cx="3027680" cy="252992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Web remains the primary driver at 89.6% (-3.1pp year-over-year) of sales.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Mobile growth has more than doubled from $3.5M to $7.7M (+118% increase year-over-year).</a:t>
            </a:r>
            <a:br>
              <a:rPr dirty="0">
                <a:highlight>
                  <a:srgbClr val="FFFF00"/>
                </a:highlight>
              </a:rPr>
            </a:b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The Web channel demonstrated strong performance, achieving a 48% year-over-year increase ($45M to $66.8M).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DFE0E-0053-83ED-D303-1AD6BB00A66E}"/>
              </a:ext>
            </a:extLst>
          </p:cNvPr>
          <p:cNvSpPr txBox="1"/>
          <p:nvPr/>
        </p:nvSpPr>
        <p:spPr>
          <a:xfrm>
            <a:off x="4267772" y="3249948"/>
            <a:ext cx="1156086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$48.6M</a:t>
            </a:r>
          </a:p>
          <a:p>
            <a:r>
              <a:rPr lang="en-GB" sz="1050" dirty="0"/>
              <a:t>Week 1-41, 2016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1DEEBA-245C-5C66-831D-5C37AD411437}"/>
              </a:ext>
            </a:extLst>
          </p:cNvPr>
          <p:cNvSpPr txBox="1"/>
          <p:nvPr/>
        </p:nvSpPr>
        <p:spPr>
          <a:xfrm>
            <a:off x="6093582" y="3232113"/>
            <a:ext cx="1156086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$74.5M</a:t>
            </a:r>
          </a:p>
          <a:p>
            <a:r>
              <a:rPr lang="en-GB" sz="1050" dirty="0"/>
              <a:t>Week 1-41, 2017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364E08B-9FBC-F8F8-6315-743BA53891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034875"/>
              </p:ext>
            </p:extLst>
          </p:nvPr>
        </p:nvGraphicFramePr>
        <p:xfrm>
          <a:off x="238957" y="3155119"/>
          <a:ext cx="3789483" cy="3091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5743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D6E7-8A6D-B28B-9FF9-CEEF8DF3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C9D256-F612-1514-7D1E-6E63E7349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47161" y="2271875"/>
            <a:ext cx="2946287" cy="2462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F0813-5A8A-77B9-8F30-3CC6917261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Market Share Growth by Brand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D2425-69E4-35B3-8715-9D0D47AB89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843" y="2558624"/>
            <a:ext cx="5897880" cy="269220"/>
          </a:xfrm>
        </p:spPr>
        <p:txBody>
          <a:bodyPr>
            <a:normAutofit fontScale="85000" lnSpcReduction="10000"/>
          </a:bodyPr>
          <a:lstStyle/>
          <a:p>
            <a:r>
              <a:rPr sz="1200" b="0" dirty="0">
                <a:latin typeface="Roboto"/>
              </a:rPr>
              <a:t>Amazon U</a:t>
            </a:r>
            <a:r>
              <a:rPr lang="en-GB" sz="1200" b="0" dirty="0">
                <a:latin typeface="Roboto"/>
              </a:rPr>
              <a:t>S</a:t>
            </a:r>
            <a:r>
              <a:rPr sz="1200" b="0" dirty="0">
                <a:latin typeface="Roboto"/>
              </a:rPr>
              <a:t> //</a:t>
            </a:r>
            <a:r>
              <a:rPr lang="en-GB" dirty="0">
                <a:latin typeface="Roboto"/>
              </a:rPr>
              <a:t> Week 1-41, 2017 vs Prior (Week 1-41, 2016)</a:t>
            </a:r>
            <a:r>
              <a:rPr lang="en-GB" sz="1200" b="0" dirty="0">
                <a:latin typeface="Roboto"/>
              </a:rPr>
              <a:t> </a:t>
            </a:r>
            <a:r>
              <a:rPr sz="1200" b="0" dirty="0">
                <a:latin typeface="Roboto"/>
              </a:rPr>
              <a:t>// Top </a:t>
            </a:r>
            <a:r>
              <a:rPr lang="en-GB" sz="1200" b="0" dirty="0">
                <a:latin typeface="Roboto"/>
              </a:rPr>
              <a:t>3</a:t>
            </a:r>
            <a:r>
              <a:rPr sz="1200" b="0" dirty="0">
                <a:latin typeface="Roboto"/>
              </a:rPr>
              <a:t> Gaining and Declining Brands</a:t>
            </a:r>
            <a:endParaRPr lang="en-US" sz="1200" dirty="0"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A4882-1084-3EAF-452C-B2638B4202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Top-line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9EB24-B41D-088B-9F25-9CF6441D6C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sz="3200" b="1" dirty="0">
                <a:latin typeface="Roboto"/>
              </a:rPr>
              <a:t>Thrifty led the market with a +3.7% share gain, while Happy saw the steepest decline at -3.2%.</a:t>
            </a:r>
            <a:endParaRPr sz="3200" b="1" dirty="0">
              <a:latin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A2550-9952-0218-3E12-780D8D343122}"/>
              </a:ext>
            </a:extLst>
          </p:cNvPr>
          <p:cNvSpPr txBox="1"/>
          <p:nvPr/>
        </p:nvSpPr>
        <p:spPr>
          <a:xfrm>
            <a:off x="7467600" y="2558624"/>
            <a:ext cx="4378960" cy="252992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Happy remains the market leader at 41.8% share, but it also faced the sharpest market share downturn year-over-year     (-3.2%), outpacing declines by Land (-2.3%) and </a:t>
            </a:r>
            <a:r>
              <a:rPr lang="en-GB" dirty="0" err="1"/>
              <a:t>MegaDeal</a:t>
            </a:r>
            <a:r>
              <a:rPr lang="en-GB" dirty="0"/>
              <a:t>     (-2%).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Thrifty (ranked #3) led the growth among all brands, achieving the largest market share gain of roughly +3.7%</a:t>
            </a:r>
            <a:r>
              <a:rPr dirty="0"/>
              <a:t>.</a:t>
            </a:r>
            <a:br>
              <a:rPr dirty="0">
                <a:highlight>
                  <a:srgbClr val="FFFF00"/>
                </a:highlight>
              </a:rPr>
            </a:b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Other growing brands included Simple (ranked #2), with a gain of approximately +2.2%, and UNNI (ranked #9), which saw a modest increase of about +0.8%</a:t>
            </a:r>
            <a:endParaRPr dirty="0"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713C1F-9CF5-F1DD-FCEE-A688CFA90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425371"/>
              </p:ext>
            </p:extLst>
          </p:nvPr>
        </p:nvGraphicFramePr>
        <p:xfrm>
          <a:off x="7838452" y="4909282"/>
          <a:ext cx="3876868" cy="1682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884">
                  <a:extLst>
                    <a:ext uri="{9D8B030D-6E8A-4147-A177-3AD203B41FA5}">
                      <a16:colId xmlns:a16="http://schemas.microsoft.com/office/drawing/2014/main" val="3144437129"/>
                    </a:ext>
                  </a:extLst>
                </a:gridCol>
                <a:gridCol w="821884">
                  <a:extLst>
                    <a:ext uri="{9D8B030D-6E8A-4147-A177-3AD203B41FA5}">
                      <a16:colId xmlns:a16="http://schemas.microsoft.com/office/drawing/2014/main" val="1662915175"/>
                    </a:ext>
                  </a:extLst>
                </a:gridCol>
                <a:gridCol w="954732">
                  <a:extLst>
                    <a:ext uri="{9D8B030D-6E8A-4147-A177-3AD203B41FA5}">
                      <a16:colId xmlns:a16="http://schemas.microsoft.com/office/drawing/2014/main" val="2640844439"/>
                    </a:ext>
                  </a:extLst>
                </a:gridCol>
                <a:gridCol w="1278368">
                  <a:extLst>
                    <a:ext uri="{9D8B030D-6E8A-4147-A177-3AD203B41FA5}">
                      <a16:colId xmlns:a16="http://schemas.microsoft.com/office/drawing/2014/main" val="2793602856"/>
                    </a:ext>
                  </a:extLst>
                </a:gridCol>
              </a:tblGrid>
              <a:tr h="203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dirty="0">
                          <a:solidFill>
                            <a:srgbClr val="071829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Rank 2017</a:t>
                      </a:r>
                      <a:endParaRPr lang="en-GB" sz="800" b="1" i="0" u="none" strike="noStrike" dirty="0">
                        <a:solidFill>
                          <a:srgbClr val="071829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1" u="none" strike="noStrike" dirty="0">
                          <a:solidFill>
                            <a:srgbClr val="071829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Brand</a:t>
                      </a:r>
                      <a:endParaRPr lang="en-GB" sz="800" b="1" i="0" u="none" strike="noStrike" dirty="0">
                        <a:solidFill>
                          <a:srgbClr val="071829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dirty="0">
                          <a:solidFill>
                            <a:srgbClr val="071829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Market Share</a:t>
                      </a:r>
                      <a:endParaRPr lang="en-GB" sz="800" b="1" i="0" u="none" strike="noStrike" dirty="0">
                        <a:solidFill>
                          <a:srgbClr val="071829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dirty="0">
                          <a:solidFill>
                            <a:srgbClr val="071829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Unit Share</a:t>
                      </a:r>
                      <a:endParaRPr lang="en-GB" sz="800" b="1" i="0" u="none" strike="noStrike" dirty="0">
                        <a:solidFill>
                          <a:srgbClr val="071829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607770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Happy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41.79%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50.59%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660424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2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Simple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20.67%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14.29%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45425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3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Thrifty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14.83%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17.71%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690469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4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PlasticPlace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3.04%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1.55%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23535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5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MegaDeal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2.41%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1.59%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156379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6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Aluf Plastics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2.12%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1.56%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334216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7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Land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1.64%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1.16%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694548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8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Husky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1.42%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1.00%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973185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9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UNNI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1.21%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1.36%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668104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10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Cand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1.10%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1.15%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778940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DA64C26-F253-E07F-F22B-988D750E8F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6331157"/>
              </p:ext>
            </p:extLst>
          </p:nvPr>
        </p:nvGraphicFramePr>
        <p:xfrm>
          <a:off x="471842" y="3098938"/>
          <a:ext cx="6482677" cy="2651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3865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ABC1-AF97-0BC0-D0A7-37DCED8C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E1793D-DFC3-8205-9A0D-BD204B83BF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B8379-85D9-3D81-980A-C54803E8A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Sales By Gallon Size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3A5B1-4535-52B2-8D9E-2BD12FEC56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latin typeface="Roboto"/>
              </a:rPr>
              <a:t>Amazon US // Week 1-41, 2017 vs Prior (Week 1-41, 2016)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1897A-E96D-7CE8-8DCE-0C6D0D6CBB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Top-line Overview</a:t>
            </a:r>
            <a:endParaRPr lang="en-US" dirty="0">
              <a:latin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CEB021-B5CA-6ABD-FFCE-9757DBA903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pPr lvl="0">
              <a:lnSpc>
                <a:spcPct val="120000"/>
              </a:lnSpc>
            </a:pPr>
            <a:r>
              <a:rPr lang="en-GB" dirty="0">
                <a:latin typeface="Roboto"/>
              </a:rPr>
              <a:t>The 13-gallon size trash bags lead the category, driving over 54.1% of total sales. With over $40.3M sales in 2017, it generates more than five times the sales of its closest competitor (8-gallon size trash bags).</a:t>
            </a:r>
            <a:endParaRPr sz="3200" b="1" dirty="0"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B03DE8-40C1-21DB-D521-6F0CBEA1DFEA}"/>
              </a:ext>
            </a:extLst>
          </p:cNvPr>
          <p:cNvSpPr txBox="1"/>
          <p:nvPr/>
        </p:nvSpPr>
        <p:spPr>
          <a:xfrm>
            <a:off x="8683345" y="2608440"/>
            <a:ext cx="3031974" cy="313932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Ranked #2, 8-gallon trash bags generated $7.4M (+45.8% year-over-year) in sales, followed by 30-gallon trash bags at $4.9M (+41.2% year-over-year) to round out the top three.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The 3-gallon trash bags experienced the most aggressive growth of any size, surging by 132.83% YoY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Combined, the 13-gallon and 8-gallon sizes account for nearly $48M in 2017 sales, representing 64% of total category sales.</a:t>
            </a:r>
            <a:endParaRPr dirty="0"/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E2B73-3899-EA40-EAF6-FFD8B2855A51}"/>
              </a:ext>
            </a:extLst>
          </p:cNvPr>
          <p:cNvSpPr txBox="1"/>
          <p:nvPr/>
        </p:nvSpPr>
        <p:spPr>
          <a:xfrm>
            <a:off x="7305907" y="2558480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000" b="0" dirty="0">
                <a:latin typeface="Roboto"/>
              </a:rPr>
              <a:t>Prior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1EE6D6-042F-00FC-4CE0-0777A36DED62}"/>
              </a:ext>
            </a:extLst>
          </p:cNvPr>
          <p:cNvGrpSpPr/>
          <p:nvPr/>
        </p:nvGrpSpPr>
        <p:grpSpPr>
          <a:xfrm>
            <a:off x="7143907" y="2681592"/>
            <a:ext cx="893368" cy="0"/>
            <a:chOff x="7143907" y="2681592"/>
            <a:chExt cx="893368" cy="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53DE24-ABDE-554B-5DD7-8EB6BE4B9310}"/>
                </a:ext>
              </a:extLst>
            </p:cNvPr>
            <p:cNvCxnSpPr>
              <a:cxnSpLocks/>
            </p:cNvCxnSpPr>
            <p:nvPr/>
          </p:nvCxnSpPr>
          <p:spPr>
            <a:xfrm>
              <a:off x="7143907" y="2681592"/>
              <a:ext cx="135793" cy="0"/>
            </a:xfrm>
            <a:prstGeom prst="line">
              <a:avLst/>
            </a:prstGeom>
            <a:ln w="38100" cap="rnd">
              <a:solidFill>
                <a:srgbClr val="ADBD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46FBE85-E254-63EE-0BFB-50B6102BFE62}"/>
                </a:ext>
              </a:extLst>
            </p:cNvPr>
            <p:cNvCxnSpPr>
              <a:cxnSpLocks/>
            </p:cNvCxnSpPr>
            <p:nvPr/>
          </p:nvCxnSpPr>
          <p:spPr>
            <a:xfrm>
              <a:off x="7901482" y="2681592"/>
              <a:ext cx="135793" cy="0"/>
            </a:xfrm>
            <a:prstGeom prst="line">
              <a:avLst/>
            </a:prstGeom>
            <a:ln w="38100" cap="rnd">
              <a:solidFill>
                <a:srgbClr val="0314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A04E112-5610-734C-AB97-4DDF8FA66BD7}"/>
              </a:ext>
            </a:extLst>
          </p:cNvPr>
          <p:cNvSpPr txBox="1"/>
          <p:nvPr/>
        </p:nvSpPr>
        <p:spPr>
          <a:xfrm>
            <a:off x="8037275" y="2548971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Roboto"/>
              </a:rPr>
              <a:t>2017</a:t>
            </a:r>
            <a:endParaRPr sz="1000" b="0" dirty="0">
              <a:latin typeface="Roboto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42ADF7C1-17FA-FDCB-354A-23B74F9F49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4378477"/>
              </p:ext>
            </p:extLst>
          </p:nvPr>
        </p:nvGraphicFramePr>
        <p:xfrm>
          <a:off x="773245" y="3063648"/>
          <a:ext cx="7348911" cy="3322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8962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5B87A-777C-4A5E-317F-F7437B68F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3">
            <a:extLst>
              <a:ext uri="{FF2B5EF4-FFF2-40B4-BE49-F238E27FC236}">
                <a16:creationId xmlns:a16="http://schemas.microsoft.com/office/drawing/2014/main" id="{60DB3FC5-7F84-CABF-02F9-D0794FDCD076}"/>
              </a:ext>
            </a:extLst>
          </p:cNvPr>
          <p:cNvSpPr txBox="1">
            <a:spLocks/>
          </p:cNvSpPr>
          <p:nvPr/>
        </p:nvSpPr>
        <p:spPr>
          <a:xfrm>
            <a:off x="516672" y="2590801"/>
            <a:ext cx="7255728" cy="139598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377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5400" b="0" i="0" kern="1200" baseline="0">
                <a:solidFill>
                  <a:schemeClr val="tx1"/>
                </a:solidFill>
                <a:latin typeface="+mj-lt"/>
                <a:ea typeface="Source Sans Pro ExtraLight" charset="0"/>
                <a:cs typeface="Source Sans Pro ExtraLight" charset="0"/>
              </a:defRPr>
            </a:lvl1pPr>
          </a:lstStyle>
          <a:p>
            <a:pPr lvl="0">
              <a:defRPr/>
            </a:pPr>
            <a:r>
              <a:rPr lang="en-US" sz="4000" b="1" dirty="0">
                <a:solidFill>
                  <a:srgbClr val="031425"/>
                </a:solidFill>
                <a:latin typeface="+mn-lt"/>
                <a:ea typeface="Roboto Black" panose="020B0604020202020204" charset="0"/>
                <a:cs typeface="Roboto Black" panose="02000000000000000000" pitchFamily="2" charset="0"/>
              </a:rPr>
              <a:t>Pricing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BB25A-5E10-7DF6-B280-7D3CF5FF6185}"/>
              </a:ext>
            </a:extLst>
          </p:cNvPr>
          <p:cNvSpPr txBox="1"/>
          <p:nvPr/>
        </p:nvSpPr>
        <p:spPr>
          <a:xfrm>
            <a:off x="516672" y="3429000"/>
            <a:ext cx="636672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525"/>
            <a:r>
              <a:rPr lang="en-GB" sz="1400" b="0" dirty="0">
                <a:solidFill>
                  <a:srgbClr val="7E8FA8"/>
                </a:solidFill>
                <a:latin typeface="Roboto Medium"/>
              </a:rPr>
              <a:t>Trash Bags</a:t>
            </a:r>
            <a:r>
              <a:rPr sz="1400" b="0" dirty="0">
                <a:solidFill>
                  <a:srgbClr val="7E8FA8"/>
                </a:solidFill>
                <a:latin typeface="Roboto Medium"/>
              </a:rPr>
              <a:t>// </a:t>
            </a:r>
            <a:r>
              <a:rPr lang="en-GB" sz="1400" b="0" dirty="0">
                <a:solidFill>
                  <a:srgbClr val="7E8FA8"/>
                </a:solidFill>
                <a:latin typeface="Roboto Medium"/>
              </a:rPr>
              <a:t>Week 1</a:t>
            </a:r>
            <a:r>
              <a:rPr lang="en-GB" sz="1400" dirty="0">
                <a:solidFill>
                  <a:srgbClr val="7E8FA8"/>
                </a:solidFill>
                <a:latin typeface="Roboto Medium"/>
              </a:rPr>
              <a:t>-</a:t>
            </a:r>
            <a:r>
              <a:rPr sz="1400" b="0" dirty="0">
                <a:solidFill>
                  <a:srgbClr val="7E8FA8"/>
                </a:solidFill>
                <a:latin typeface="Roboto Medium"/>
              </a:rPr>
              <a:t>4</a:t>
            </a:r>
            <a:r>
              <a:rPr lang="en-GB" sz="1400" b="0" dirty="0">
                <a:solidFill>
                  <a:srgbClr val="7E8FA8"/>
                </a:solidFill>
                <a:latin typeface="Roboto Medium"/>
              </a:rPr>
              <a:t>1</a:t>
            </a:r>
            <a:r>
              <a:rPr sz="1400" b="0" dirty="0">
                <a:solidFill>
                  <a:srgbClr val="7E8FA8"/>
                </a:solidFill>
                <a:latin typeface="Roboto Medium"/>
              </a:rPr>
              <a:t>, </a:t>
            </a:r>
            <a:r>
              <a:rPr lang="en-GB" sz="1400" b="0" dirty="0">
                <a:solidFill>
                  <a:srgbClr val="7E8FA8"/>
                </a:solidFill>
                <a:latin typeface="Roboto Medium"/>
              </a:rPr>
              <a:t>2017</a:t>
            </a:r>
            <a:r>
              <a:rPr sz="1400" b="0" dirty="0">
                <a:solidFill>
                  <a:srgbClr val="7E8FA8"/>
                </a:solidFill>
                <a:latin typeface="Roboto Medium"/>
              </a:rPr>
              <a:t> vs Prior Year</a:t>
            </a:r>
          </a:p>
        </p:txBody>
      </p:sp>
    </p:spTree>
    <p:extLst>
      <p:ext uri="{BB962C8B-B14F-4D97-AF65-F5344CB8AC3E}">
        <p14:creationId xmlns:p14="http://schemas.microsoft.com/office/powerpoint/2010/main" val="352044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4995-70F0-6A2E-BF1B-81FB4C13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4212149-6174-6F97-4278-0DCCB55B4E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D52BB-1F19-663C-A6FE-00990B980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845" y="2231349"/>
            <a:ext cx="4072996" cy="32727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Trash Bags - Average Selling Price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8CFD44-5650-AD08-CD45-7728350CD2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Pricing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4C8FC3-39DE-023F-E02F-DC4313774F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dirty="0">
                <a:latin typeface="Roboto"/>
              </a:rPr>
              <a:t>Average selling price eroded -4.2% year-over-year. Prices in the first half of 2017 failed to reach 2016 levels.</a:t>
            </a:r>
            <a:endParaRPr sz="3200" b="1" dirty="0">
              <a:highlight>
                <a:srgbClr val="FFFF00"/>
              </a:highlight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8DAEF-57CD-7B22-FFC5-D22EF0755C32}"/>
              </a:ext>
            </a:extLst>
          </p:cNvPr>
          <p:cNvSpPr txBox="1"/>
          <p:nvPr/>
        </p:nvSpPr>
        <p:spPr>
          <a:xfrm>
            <a:off x="8683345" y="2608440"/>
            <a:ext cx="3031974" cy="395185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ASP declined from $16.41 to $15.72, driven by a failure to match 2016 price levels for 85% of the year-to-date period.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In W30 2017, the price plummeted to $14.14, the lowest recorded value in the entire 2017 dataset. Comparing this to W30 2016 ($16.31), this represents a massive 13.3% single-week drop year-over-year, likely indicating an aggressive one-week clearance or promotional blitz following Prime day (W28).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In W40–W41 2017, prices finally outperformed 2016, signalling a late-season recovery in pricing power.</a:t>
            </a:r>
            <a:endParaRPr dirty="0"/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C6C56-DB96-1358-4B14-D5C5B32010CF}"/>
              </a:ext>
            </a:extLst>
          </p:cNvPr>
          <p:cNvSpPr txBox="1"/>
          <p:nvPr/>
        </p:nvSpPr>
        <p:spPr>
          <a:xfrm>
            <a:off x="508871" y="273004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$16.41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11CF8-4A97-8EC3-5061-44BA87961C99}"/>
              </a:ext>
            </a:extLst>
          </p:cNvPr>
          <p:cNvSpPr txBox="1"/>
          <p:nvPr/>
        </p:nvSpPr>
        <p:spPr>
          <a:xfrm>
            <a:off x="2299135" y="273004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$15.72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A201D6A-A7F2-CFDA-1E49-F8D9513A0290}"/>
              </a:ext>
            </a:extLst>
          </p:cNvPr>
          <p:cNvSpPr txBox="1">
            <a:spLocks/>
          </p:cNvSpPr>
          <p:nvPr/>
        </p:nvSpPr>
        <p:spPr>
          <a:xfrm>
            <a:off x="508871" y="3092787"/>
            <a:ext cx="1424689" cy="187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>
                <a:latin typeface="Roboto"/>
              </a:rPr>
              <a:t>Week 1-41, 2016 </a:t>
            </a:r>
            <a:endParaRPr lang="en-US" sz="9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EE6DC9D-FAD0-A7FF-527B-EAFFBF51B44F}"/>
              </a:ext>
            </a:extLst>
          </p:cNvPr>
          <p:cNvGrpSpPr/>
          <p:nvPr/>
        </p:nvGrpSpPr>
        <p:grpSpPr>
          <a:xfrm>
            <a:off x="3245432" y="2788492"/>
            <a:ext cx="647700" cy="261610"/>
            <a:chOff x="3316605" y="2788105"/>
            <a:chExt cx="647700" cy="26161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A0B3F7-9B11-8A70-F3A8-A60267AB2188}"/>
                </a:ext>
              </a:extLst>
            </p:cNvPr>
            <p:cNvSpPr txBox="1"/>
            <p:nvPr/>
          </p:nvSpPr>
          <p:spPr>
            <a:xfrm>
              <a:off x="3316605" y="2788105"/>
              <a:ext cx="647700" cy="261610"/>
            </a:xfrm>
            <a:prstGeom prst="rect">
              <a:avLst/>
            </a:prstGeom>
            <a:solidFill>
              <a:srgbClr val="FFECEC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100" dirty="0">
                  <a:solidFill>
                    <a:srgbClr val="FF5951"/>
                  </a:solidFill>
                </a:rPr>
                <a:t>4.2%</a:t>
              </a: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95CE804B-852D-C68D-94FA-8EEC225B8CAB}"/>
                </a:ext>
              </a:extLst>
            </p:cNvPr>
            <p:cNvSpPr/>
            <p:nvPr/>
          </p:nvSpPr>
          <p:spPr>
            <a:xfrm rot="10800000">
              <a:off x="3412845" y="2903745"/>
              <a:ext cx="79019" cy="45719"/>
            </a:xfrm>
            <a:prstGeom prst="triangle">
              <a:avLst/>
            </a:prstGeom>
            <a:solidFill>
              <a:srgbClr val="FF5951"/>
            </a:solidFill>
            <a:ln>
              <a:solidFill>
                <a:srgbClr val="FF59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>
                <a:solidFill>
                  <a:srgbClr val="FFB0AD"/>
                </a:solidFill>
              </a:endParaRPr>
            </a:p>
          </p:txBody>
        </p:sp>
      </p:grp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D1512088-82FE-A2A8-1BC6-CFBA811E5F8F}"/>
              </a:ext>
            </a:extLst>
          </p:cNvPr>
          <p:cNvSpPr txBox="1">
            <a:spLocks/>
          </p:cNvSpPr>
          <p:nvPr/>
        </p:nvSpPr>
        <p:spPr>
          <a:xfrm>
            <a:off x="2299135" y="3092787"/>
            <a:ext cx="1424689" cy="187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>
                <a:latin typeface="Roboto"/>
              </a:rPr>
              <a:t>Week 1-41, 2017 </a:t>
            </a:r>
            <a:endParaRPr lang="en-US" sz="900" dirty="0"/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B119A4D4-4806-5CA7-8CC5-E3DA078DA2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8313606"/>
              </p:ext>
            </p:extLst>
          </p:nvPr>
        </p:nvGraphicFramePr>
        <p:xfrm>
          <a:off x="508871" y="3270794"/>
          <a:ext cx="7568329" cy="3587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615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6ACD5-7C94-9CCC-3C9A-8645DE89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DCDC8F-BCB2-89CA-46AA-60698C4971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1D21C-C715-C48C-FF28-FD4128A2E7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844" y="2231349"/>
            <a:ext cx="4500749" cy="32727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Retail Price by Brand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5F004-2637-900A-E0FA-89A19AB11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sz="1200" b="0" dirty="0">
                <a:latin typeface="Roboto"/>
              </a:rPr>
              <a:t>Amazon U</a:t>
            </a:r>
            <a:r>
              <a:rPr lang="en-GB" sz="1200" b="0" dirty="0">
                <a:latin typeface="Roboto"/>
              </a:rPr>
              <a:t>S</a:t>
            </a:r>
            <a:r>
              <a:rPr sz="1200" b="0" dirty="0">
                <a:latin typeface="Roboto"/>
              </a:rPr>
              <a:t> // </a:t>
            </a:r>
            <a:r>
              <a:rPr lang="en-GB" sz="1200" b="0" dirty="0">
                <a:latin typeface="Roboto"/>
              </a:rPr>
              <a:t>Week 1-41, 2017 vs Prior (</a:t>
            </a:r>
            <a:r>
              <a:rPr lang="en-GB" dirty="0">
                <a:latin typeface="Roboto"/>
              </a:rPr>
              <a:t>Week 1-41, 2016)</a:t>
            </a:r>
            <a:endParaRPr lang="en-US" sz="1200" dirty="0"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DAD89-0498-3275-52B2-B7BA8A9988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Pricing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F3C2CE-1691-9480-86DE-019CE71138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dirty="0">
                <a:latin typeface="Roboto"/>
              </a:rPr>
              <a:t>Happy</a:t>
            </a:r>
            <a:r>
              <a:rPr sz="3200" b="1" dirty="0">
                <a:latin typeface="Roboto"/>
              </a:rPr>
              <a:t> </a:t>
            </a:r>
            <a:r>
              <a:rPr lang="en-GB" sz="3200" b="1" dirty="0">
                <a:latin typeface="Roboto"/>
              </a:rPr>
              <a:t>remains the most affordable option among the top five brands.</a:t>
            </a:r>
            <a:endParaRPr sz="3200" b="1" dirty="0"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02C998-2F85-6192-FB82-58FA98C41A24}"/>
              </a:ext>
            </a:extLst>
          </p:cNvPr>
          <p:cNvSpPr txBox="1"/>
          <p:nvPr/>
        </p:nvSpPr>
        <p:spPr>
          <a:xfrm>
            <a:off x="8683345" y="2608440"/>
            <a:ext cx="2946287" cy="354558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Happy, ranked #1 by sales volume, saw its price decrease by 9% year-over-year, dropping from $14.25 to $12.98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lang="en-GB" dirty="0"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While the most expensive brands </a:t>
            </a:r>
            <a:r>
              <a:rPr lang="en-GB" dirty="0" err="1"/>
              <a:t>PlasticPlace</a:t>
            </a:r>
            <a:r>
              <a:rPr lang="en-GB" dirty="0"/>
              <a:t> and </a:t>
            </a:r>
            <a:r>
              <a:rPr lang="en-GB" dirty="0" err="1"/>
              <a:t>MegaDeal</a:t>
            </a:r>
            <a:r>
              <a:rPr lang="en-GB" dirty="0"/>
              <a:t> implemented price increases (+8.2% and +17.9%), the three most affordable competitors continued to trend downward, further widening the price gap.</a:t>
            </a:r>
            <a:br>
              <a:rPr lang="en-GB" dirty="0">
                <a:highlight>
                  <a:srgbClr val="FFFF00"/>
                </a:highlight>
              </a:rPr>
            </a:br>
            <a:br>
              <a:rPr dirty="0">
                <a:highlight>
                  <a:srgbClr val="FFFF00"/>
                </a:highlight>
              </a:rPr>
            </a:b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br>
              <a:rPr dirty="0"/>
            </a:br>
            <a:endParaRPr dirty="0"/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A5C34-024C-8278-F5BD-53A6B65CFEE8}"/>
              </a:ext>
            </a:extLst>
          </p:cNvPr>
          <p:cNvSpPr txBox="1"/>
          <p:nvPr/>
        </p:nvSpPr>
        <p:spPr>
          <a:xfrm>
            <a:off x="7305907" y="2558480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000" b="0" dirty="0">
                <a:latin typeface="Roboto"/>
              </a:rPr>
              <a:t>Prior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E5D68-3F34-5450-D2A1-552C6A9D6514}"/>
              </a:ext>
            </a:extLst>
          </p:cNvPr>
          <p:cNvSpPr txBox="1"/>
          <p:nvPr/>
        </p:nvSpPr>
        <p:spPr>
          <a:xfrm>
            <a:off x="8047908" y="2556405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 dirty="0">
                <a:latin typeface="Roboto"/>
              </a:rPr>
              <a:t>2017</a:t>
            </a:r>
            <a:endParaRPr sz="1000" b="0" dirty="0">
              <a:latin typeface="Robot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14CFF9-05D9-0425-0908-EBA1117638BB}"/>
              </a:ext>
            </a:extLst>
          </p:cNvPr>
          <p:cNvGrpSpPr/>
          <p:nvPr/>
        </p:nvGrpSpPr>
        <p:grpSpPr>
          <a:xfrm>
            <a:off x="7143907" y="2681592"/>
            <a:ext cx="893368" cy="0"/>
            <a:chOff x="7143907" y="2681592"/>
            <a:chExt cx="893368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9B3D7DC-1EF2-98B4-3BA9-86D1A332F92E}"/>
                </a:ext>
              </a:extLst>
            </p:cNvPr>
            <p:cNvCxnSpPr>
              <a:cxnSpLocks/>
            </p:cNvCxnSpPr>
            <p:nvPr/>
          </p:nvCxnSpPr>
          <p:spPr>
            <a:xfrm>
              <a:off x="7143907" y="2681592"/>
              <a:ext cx="135793" cy="0"/>
            </a:xfrm>
            <a:prstGeom prst="line">
              <a:avLst/>
            </a:prstGeom>
            <a:ln w="38100" cap="rnd">
              <a:solidFill>
                <a:srgbClr val="ADBD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280D662-7429-BFFA-F3FC-52D41926138E}"/>
                </a:ext>
              </a:extLst>
            </p:cNvPr>
            <p:cNvCxnSpPr>
              <a:cxnSpLocks/>
            </p:cNvCxnSpPr>
            <p:nvPr/>
          </p:nvCxnSpPr>
          <p:spPr>
            <a:xfrm>
              <a:off x="7901482" y="2681592"/>
              <a:ext cx="135793" cy="0"/>
            </a:xfrm>
            <a:prstGeom prst="line">
              <a:avLst/>
            </a:prstGeom>
            <a:ln w="38100" cap="rnd">
              <a:solidFill>
                <a:srgbClr val="0314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0638D19-EDBB-B7E7-D2CF-11D8CB2874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824168"/>
              </p:ext>
            </p:extLst>
          </p:nvPr>
        </p:nvGraphicFramePr>
        <p:xfrm>
          <a:off x="353286" y="3129901"/>
          <a:ext cx="7931225" cy="3255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2246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6771</TotalTime>
  <Words>1151</Words>
  <Application>Microsoft Office PowerPoint</Application>
  <PresentationFormat>Widescreen</PresentationFormat>
  <Paragraphs>149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Chrienova, Mirka</dc:creator>
  <cp:lastModifiedBy>Chrienova, Mirka</cp:lastModifiedBy>
  <cp:revision>37</cp:revision>
  <dcterms:created xsi:type="dcterms:W3CDTF">2026-03-09T21:37:34Z</dcterms:created>
  <dcterms:modified xsi:type="dcterms:W3CDTF">2026-05-15T16:14:57Z</dcterms:modified>
</cp:coreProperties>
</file>